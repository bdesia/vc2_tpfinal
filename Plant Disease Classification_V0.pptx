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408" r:id="rId5"/>
    <p:sldId id="338" r:id="rId6"/>
    <p:sldId id="460" r:id="rId7"/>
    <p:sldId id="457" r:id="rId8"/>
    <p:sldId id="339" r:id="rId9"/>
    <p:sldId id="442" r:id="rId10"/>
    <p:sldId id="443" r:id="rId11"/>
    <p:sldId id="444" r:id="rId12"/>
    <p:sldId id="446" r:id="rId13"/>
    <p:sldId id="465" r:id="rId14"/>
    <p:sldId id="458" r:id="rId15"/>
    <p:sldId id="454" r:id="rId16"/>
    <p:sldId id="459" r:id="rId17"/>
    <p:sldId id="466" r:id="rId18"/>
    <p:sldId id="467" r:id="rId19"/>
    <p:sldId id="461" r:id="rId20"/>
    <p:sldId id="468" r:id="rId21"/>
    <p:sldId id="469" r:id="rId22"/>
    <p:sldId id="462" r:id="rId23"/>
    <p:sldId id="470" r:id="rId24"/>
    <p:sldId id="471" r:id="rId25"/>
    <p:sldId id="463" r:id="rId26"/>
    <p:sldId id="472" r:id="rId27"/>
    <p:sldId id="464" r:id="rId28"/>
    <p:sldId id="418" r:id="rId29"/>
    <p:sldId id="452" r:id="rId30"/>
    <p:sldId id="453" r:id="rId31"/>
    <p:sldId id="473" r:id="rId32"/>
    <p:sldId id="441" r:id="rId3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EA6"/>
    <a:srgbClr val="9E84C0"/>
    <a:srgbClr val="464A4D"/>
    <a:srgbClr val="FA5716"/>
    <a:srgbClr val="DED6D3"/>
    <a:srgbClr val="81B868"/>
    <a:srgbClr val="9D83BF"/>
    <a:srgbClr val="000000"/>
    <a:srgbClr val="EE3D8F"/>
    <a:srgbClr val="37BB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C104B-9B8B-EF1C-FA00-0B1A34F264B5}" v="63" dt="2024-11-20T13:10:18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D204D-610F-4D8F-9FBE-A931FCF6D264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0B49B-73DD-4004-8A6A-1102F2BA1FA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194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B49B-73DD-4004-8A6A-1102F2BA1FA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791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B49B-73DD-4004-8A6A-1102F2BA1FA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47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355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444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9275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561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44460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401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362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086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796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3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857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17DB7-1663-43AF-B03F-625E44BB9B6E}" type="datetimeFigureOut">
              <a:rPr lang="es-AR" smtClean="0"/>
              <a:t>16/6/2025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7BF74-FC18-47A3-B0D5-9786575A90D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279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092182" y="1914359"/>
            <a:ext cx="1069459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800" b="1" dirty="0" smtClean="0">
                <a:solidFill>
                  <a:schemeClr val="bg1"/>
                </a:solidFill>
                <a:latin typeface="Corbel"/>
                <a:ea typeface="ADLaM Display"/>
                <a:cs typeface="ADLaM Display"/>
              </a:rPr>
              <a:t>PLANT DISEASE CLASSIFICATION</a:t>
            </a:r>
            <a:endParaRPr lang="es-AR" sz="4800" b="1" dirty="0">
              <a:solidFill>
                <a:schemeClr val="bg1"/>
              </a:solidFill>
              <a:latin typeface="Corbel"/>
              <a:ea typeface="ADLaM Display"/>
              <a:cs typeface="ADLaM Display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092182" y="2752066"/>
            <a:ext cx="9825135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2200" b="1" noProof="0" dirty="0" smtClean="0">
                <a:solidFill>
                  <a:schemeClr val="bg1"/>
                </a:solidFill>
                <a:ea typeface="ADLaM Display" panose="02010000000000000000" pitchFamily="2" charset="0"/>
                <a:cs typeface="Calibri"/>
              </a:rPr>
              <a:t>TRABAJO PRÁCTICO INTEGRADOR</a:t>
            </a:r>
            <a:endParaRPr lang="es-AR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1092182" y="3189663"/>
            <a:ext cx="80167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VISIÓN</a:t>
            </a:r>
            <a:r>
              <a:rPr kumimoji="0" lang="en-US" sz="18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POR COMPUTADORA II</a:t>
            </a:r>
          </a:p>
          <a:p>
            <a:pPr lvl="0">
              <a:defRPr/>
            </a:pPr>
            <a:r>
              <a:rPr lang="en-US" b="1" baseline="0" dirty="0" smtClean="0">
                <a:solidFill>
                  <a:schemeClr val="bg1"/>
                </a:solidFill>
                <a:latin typeface="Corbel" panose="020B0503020204020204" pitchFamily="34" charset="0"/>
              </a:rPr>
              <a:t>CARRERA</a:t>
            </a:r>
            <a:r>
              <a:rPr lang="en-US" b="1" dirty="0" smtClean="0">
                <a:solidFill>
                  <a:schemeClr val="bg1"/>
                </a:solidFill>
                <a:latin typeface="Corbel" panose="020B0503020204020204" pitchFamily="34" charset="0"/>
              </a:rPr>
              <a:t> DE ESPECIALIZACIÓN EN INTELIGENCIA ARTIFICIAL </a:t>
            </a:r>
          </a:p>
          <a:p>
            <a:pPr lvl="0"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FIUBA</a:t>
            </a:r>
          </a:p>
          <a:p>
            <a:pPr lvl="0">
              <a:defRPr/>
            </a:pPr>
            <a:endParaRPr lang="en-US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lvl="0"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INTEGRANTES: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b="1" dirty="0" smtClean="0">
                <a:solidFill>
                  <a:schemeClr val="bg1"/>
                </a:solidFill>
                <a:latin typeface="Corbel" panose="020B0503020204020204" pitchFamily="34" charset="0"/>
              </a:rPr>
              <a:t>BRAIAN A. DESÍA	N° SIU a1804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LAUTARO MEDINA	N° SIU a1813</a:t>
            </a:r>
          </a:p>
        </p:txBody>
      </p:sp>
      <p:sp>
        <p:nvSpPr>
          <p:cNvPr id="2" name="Rectángulo 1"/>
          <p:cNvSpPr/>
          <p:nvPr/>
        </p:nvSpPr>
        <p:spPr>
          <a:xfrm>
            <a:off x="9748399" y="6168603"/>
            <a:ext cx="2038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s-AR" b="1" dirty="0">
                <a:solidFill>
                  <a:schemeClr val="bg1"/>
                </a:solidFill>
                <a:latin typeface="Corbel" panose="020B0503020204020204" pitchFamily="34" charset="0"/>
              </a:rPr>
              <a:t>17 de junio de 2025</a:t>
            </a:r>
          </a:p>
        </p:txBody>
      </p:sp>
      <p:pic>
        <p:nvPicPr>
          <p:cNvPr id="6" name="Picture 2" descr="Archivo:Logo de la Universidad de Buenos Aires.jpg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140" y="176784"/>
            <a:ext cx="1395638" cy="139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53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4364E6F4-86A9-8A37-79BA-0798D0F1806A}"/>
              </a:ext>
            </a:extLst>
          </p:cNvPr>
          <p:cNvSpPr txBox="1"/>
          <p:nvPr/>
        </p:nvSpPr>
        <p:spPr>
          <a:xfrm>
            <a:off x="701154" y="903157"/>
            <a:ext cx="4943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err="1" smtClean="0">
                <a:latin typeface="Corbel" panose="020B0503020204020204" pitchFamily="34" charset="0"/>
              </a:rPr>
              <a:t>Plant</a:t>
            </a:r>
            <a:r>
              <a:rPr lang="es-AR" sz="3600" b="1" dirty="0" smtClean="0">
                <a:latin typeface="Corbel" panose="020B0503020204020204" pitchFamily="34" charset="0"/>
              </a:rPr>
              <a:t> </a:t>
            </a:r>
            <a:r>
              <a:rPr lang="es-AR" sz="3600" b="1" dirty="0" err="1" smtClean="0">
                <a:latin typeface="Corbel" panose="020B0503020204020204" pitchFamily="34" charset="0"/>
              </a:rPr>
              <a:t>Disease</a:t>
            </a:r>
            <a:r>
              <a:rPr lang="es-AR" sz="3600" b="1" dirty="0" smtClean="0">
                <a:latin typeface="Corbel" panose="020B0503020204020204" pitchFamily="34" charset="0"/>
              </a:rPr>
              <a:t> </a:t>
            </a:r>
            <a:r>
              <a:rPr lang="es-AR" sz="3600" b="1" dirty="0" err="1" smtClean="0">
                <a:latin typeface="Corbel" panose="020B0503020204020204" pitchFamily="34" charset="0"/>
              </a:rPr>
              <a:t>Detection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85D4AFD7-519A-7157-EBA3-610671B61FF9}"/>
              </a:ext>
            </a:extLst>
          </p:cNvPr>
          <p:cNvSpPr txBox="1"/>
          <p:nvPr/>
        </p:nvSpPr>
        <p:spPr>
          <a:xfrm>
            <a:off x="710032" y="492362"/>
            <a:ext cx="2777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VC II PROYECTO FINAL</a:t>
            </a:r>
            <a:endParaRPr lang="es-ES" sz="20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62307"/>
          <a:stretch/>
        </p:blipFill>
        <p:spPr>
          <a:xfrm>
            <a:off x="7172961" y="42784"/>
            <a:ext cx="5019039" cy="676348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01155" y="2246135"/>
            <a:ext cx="604533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FUENTE: 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endParaRPr lang="es-AR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a-DK" sz="16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da-DK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DESCRIPCIÓN: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Dataset de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imágenes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hojas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diferentes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especies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plantas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con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diferentes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estados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salud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(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sanas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o con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alguna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patología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).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OBJETIVO GENERAL: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Implementar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un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modelo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VC para la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detección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plantas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enfermas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018" y="2179364"/>
            <a:ext cx="4555968" cy="83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5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01154" y="1990879"/>
            <a:ext cx="66233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CONTENIDO</a:t>
            </a:r>
          </a:p>
          <a:p>
            <a:pPr algn="just"/>
            <a:endParaRPr lang="es-ES" b="1" dirty="0" smtClean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EXPLORATORY DATA ANALYSIS</a:t>
            </a:r>
          </a:p>
          <a:p>
            <a:pPr marL="285750" indent="-285750" algn="just">
              <a:buFontTx/>
              <a:buChar char="-"/>
            </a:pPr>
            <a:endParaRPr lang="es-ES" b="1" dirty="0" smtClean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MODEL #1: BASELINE SIMPLE CNN</a:t>
            </a: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MODEL # 2: SIMPLE CNN </a:t>
            </a:r>
            <a:r>
              <a:rPr lang="es-ES" b="1" dirty="0" err="1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with</a:t>
            </a:r>
            <a:r>
              <a:rPr lang="es-ES" b="1" dirty="0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s-ES" b="1" dirty="0" err="1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RandAugmentation</a:t>
            </a:r>
            <a:endParaRPr lang="es-ES" b="1" dirty="0" smtClean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MODEL # 3: PRE-TRAINED RESNET18</a:t>
            </a: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MODEL #4: RESNET18 FROM SCRATCH</a:t>
            </a:r>
          </a:p>
          <a:p>
            <a:pPr marL="285750" indent="-285750" algn="just">
              <a:buFontTx/>
              <a:buChar char="-"/>
            </a:pPr>
            <a:endParaRPr lang="es-E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b="1" dirty="0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COMPARACIÓN MODELOS Y EVALUACIÓN DE MÉTRICAS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4364E6F4-86A9-8A37-79BA-0798D0F1806A}"/>
              </a:ext>
            </a:extLst>
          </p:cNvPr>
          <p:cNvSpPr txBox="1"/>
          <p:nvPr/>
        </p:nvSpPr>
        <p:spPr>
          <a:xfrm>
            <a:off x="701154" y="903157"/>
            <a:ext cx="4943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err="1" smtClean="0">
                <a:latin typeface="Corbel" panose="020B0503020204020204" pitchFamily="34" charset="0"/>
              </a:rPr>
              <a:t>Plant</a:t>
            </a:r>
            <a:r>
              <a:rPr lang="es-AR" sz="3600" b="1" dirty="0" smtClean="0">
                <a:latin typeface="Corbel" panose="020B0503020204020204" pitchFamily="34" charset="0"/>
              </a:rPr>
              <a:t> </a:t>
            </a:r>
            <a:r>
              <a:rPr lang="es-AR" sz="3600" b="1" dirty="0" err="1" smtClean="0">
                <a:latin typeface="Corbel" panose="020B0503020204020204" pitchFamily="34" charset="0"/>
              </a:rPr>
              <a:t>Disease</a:t>
            </a:r>
            <a:r>
              <a:rPr lang="es-AR" sz="3600" b="1" dirty="0" smtClean="0">
                <a:latin typeface="Corbel" panose="020B0503020204020204" pitchFamily="34" charset="0"/>
              </a:rPr>
              <a:t> </a:t>
            </a:r>
            <a:r>
              <a:rPr lang="es-AR" sz="3600" b="1" dirty="0" err="1" smtClean="0">
                <a:latin typeface="Corbel" panose="020B0503020204020204" pitchFamily="34" charset="0"/>
              </a:rPr>
              <a:t>Detection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85D4AFD7-519A-7157-EBA3-610671B61FF9}"/>
              </a:ext>
            </a:extLst>
          </p:cNvPr>
          <p:cNvSpPr txBox="1"/>
          <p:nvPr/>
        </p:nvSpPr>
        <p:spPr>
          <a:xfrm>
            <a:off x="710032" y="492362"/>
            <a:ext cx="2777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VC II PROYECTO FINAL</a:t>
            </a:r>
            <a:endParaRPr lang="es-ES" sz="20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25239" r="37434"/>
          <a:stretch/>
        </p:blipFill>
        <p:spPr>
          <a:xfrm>
            <a:off x="7060790" y="0"/>
            <a:ext cx="50397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9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8999033" cy="72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 smtClean="0">
                <a:latin typeface="Corbel" panose="020B0503020204020204" pitchFamily="34" charset="0"/>
              </a:rPr>
              <a:t>EXPLORATORY DATA ANALYSIS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40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01155" y="2246135"/>
            <a:ext cx="604533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3 VERSIONES: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rbel" panose="020B0503020204020204" pitchFamily="34" charset="0"/>
            </a:endParaRPr>
          </a:p>
          <a:p>
            <a:pPr algn="just"/>
            <a:endParaRPr lang="es-AR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da-DK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COLOR</a:t>
            </a:r>
            <a:r>
              <a:rPr lang="da-DK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: imágenes originales RGB.</a:t>
            </a:r>
            <a:endParaRPr lang="da-DK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GRAYSCALE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: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imágenes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en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escala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de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grises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SEGMENTED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: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imágenes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con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hojas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segmentadas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en </a:t>
            </a:r>
            <a:r>
              <a:rPr lang="en-U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fondo</a:t>
            </a: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negro.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COMPOSICIÓN</a:t>
            </a:r>
            <a:endParaRPr lang="es-AR" sz="28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DATASET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3810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EXPLORATORY DATA ANALYSIS</a:t>
            </a:r>
            <a:endParaRPr lang="es-ES" sz="20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74" y="338019"/>
            <a:ext cx="6623257" cy="242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1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01154" y="2615715"/>
            <a:ext cx="48395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Imágenes de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256x256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 tamaño, con excepción de unos pocos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outliers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La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relación de aspecto es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1, salvo </a:t>
            </a:r>
            <a:r>
              <a:rPr lang="es-E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outliers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Para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el procesamiento, aplicaremos un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transform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para igualar el tamaño de todas las imágenes o podríamos directamente eliminar los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outliers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sin mayor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perjuicio.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ANCHO/ALTURA IMÁGENES</a:t>
            </a:r>
            <a:endParaRPr lang="es-AR" sz="28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DATASET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  <a:endParaRPr lang="es-ES" sz="20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722" y="569974"/>
            <a:ext cx="6444078" cy="265567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078" y="3515254"/>
            <a:ext cx="3825655" cy="290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0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10032" y="2326004"/>
            <a:ext cx="590805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38 CLASES</a:t>
            </a: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Codificación {PLANTA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} + ___ + {CONDICIÓN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}.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P.ej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.:	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Apple___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healthy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→ 	Especie “APPLE”</a:t>
            </a:r>
          </a:p>
          <a:p>
            <a:pPr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			Condición “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Healthy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”</a:t>
            </a:r>
          </a:p>
          <a:p>
            <a:pPr algn="just"/>
            <a:endParaRPr lang="es-E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  <a:cs typeface="Calibri" panose="020F0502020204030204" pitchFamily="34" charset="0"/>
            </a:endParaRPr>
          </a:p>
          <a:p>
            <a:pPr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  <a:cs typeface="Calibri" panose="020F0502020204030204" pitchFamily="34" charset="0"/>
            </a:endParaRPr>
          </a:p>
          <a:p>
            <a:pPr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Apple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___</a:t>
            </a:r>
            <a:r>
              <a:rPr lang="es-E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Black_root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→ 	Especie “APPLE”</a:t>
            </a:r>
          </a:p>
          <a:p>
            <a:pPr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			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Condición “</a:t>
            </a:r>
            <a:r>
              <a:rPr lang="es-E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Black_root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”</a:t>
            </a:r>
          </a:p>
          <a:p>
            <a:pPr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Desbalance de clases.</a:t>
            </a: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LABELS</a:t>
            </a:r>
            <a:endParaRPr lang="es-AR" sz="28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DATASET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  <a:endParaRPr lang="es-ES" sz="20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196" y="492362"/>
            <a:ext cx="5624513" cy="56245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036" y="5199148"/>
            <a:ext cx="5128519" cy="51198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929" y="4004199"/>
            <a:ext cx="5139626" cy="51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47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/>
          <p:cNvSpPr txBox="1"/>
          <p:nvPr/>
        </p:nvSpPr>
        <p:spPr>
          <a:xfrm>
            <a:off x="710032" y="2326004"/>
            <a:ext cx="59080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Condición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"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Healthy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",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predomina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enteramente el color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verde,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mientras que en los casos con enfermedad, se observan manchas o diferentes tonalidades (p.ej.,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amarillo).</a:t>
            </a:r>
          </a:p>
          <a:p>
            <a:pPr algn="just"/>
            <a:endParaRPr lang="es-E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Considerar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la imagen a color puede ser relevante para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</a:t>
            </a:r>
            <a:r>
              <a:rPr lang="es-E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disernir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el estado.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Plantas enfermas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presentan "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huecos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". Alguna técnica de segmentación de bordes (p.ej.,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Canny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) podría usarse para facilitar la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clasificación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como pre-procesamiento.</a:t>
            </a:r>
            <a:endParaRPr lang="es-E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LABELS</a:t>
            </a:r>
            <a:endParaRPr lang="es-AR" sz="28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DATASET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  <a:endParaRPr lang="es-ES" sz="20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207" y="2299875"/>
            <a:ext cx="5058152" cy="130340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328" y="827666"/>
            <a:ext cx="5077031" cy="128721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457" y="4961300"/>
            <a:ext cx="6971374" cy="142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0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LABELS</a:t>
            </a:r>
            <a:endParaRPr lang="es-AR" sz="28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DATASET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  <a:endParaRPr lang="es-ES" sz="20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424" y="164136"/>
            <a:ext cx="7135844" cy="353794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1" y="3291840"/>
            <a:ext cx="7031239" cy="3489009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7478445" y="574372"/>
            <a:ext cx="36716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Predominancia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la especie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Tomate (~ 3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veces al inmediato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siguiente).</a:t>
            </a: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Desbalanceo marcado de especies.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414216" y="3702076"/>
            <a:ext cx="43236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En la mayoría de las especies se observa el desbalance de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estado de salud,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con excepción de las manzanas, cereza y ají donde las clases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están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relativamente balanceadas.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Se 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deduce que gran parte del desbalanceo del set es atribuida a la especie tomate.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s-E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Algunos de las especies les falta casos de alguno de los 2 estados de salud.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10032" y="2372574"/>
            <a:ext cx="3587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Agrupamos por en especie y por estado de salud (</a:t>
            </a:r>
            <a:r>
              <a:rPr lang="es-E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Healthy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/</a:t>
            </a:r>
            <a:r>
              <a:rPr lang="es-E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Diseased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).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ángulo redondeado 2"/>
          <p:cNvSpPr/>
          <p:nvPr/>
        </p:nvSpPr>
        <p:spPr>
          <a:xfrm>
            <a:off x="6563360" y="5831840"/>
            <a:ext cx="304800" cy="29464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redondeado 10"/>
          <p:cNvSpPr/>
          <p:nvPr/>
        </p:nvSpPr>
        <p:spPr>
          <a:xfrm>
            <a:off x="1757725" y="6313616"/>
            <a:ext cx="355600" cy="3048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redondeado 11"/>
          <p:cNvSpPr/>
          <p:nvPr/>
        </p:nvSpPr>
        <p:spPr>
          <a:xfrm>
            <a:off x="792525" y="5984240"/>
            <a:ext cx="325075" cy="329376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redondeado 12"/>
          <p:cNvSpPr/>
          <p:nvPr/>
        </p:nvSpPr>
        <p:spPr>
          <a:xfrm>
            <a:off x="1320867" y="5844128"/>
            <a:ext cx="355600" cy="304800"/>
          </a:xfrm>
          <a:prstGeom prst="roundRect">
            <a:avLst/>
          </a:prstGeom>
          <a:solidFill>
            <a:srgbClr val="00B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redondeado 14"/>
          <p:cNvSpPr/>
          <p:nvPr/>
        </p:nvSpPr>
        <p:spPr>
          <a:xfrm>
            <a:off x="3434180" y="5831840"/>
            <a:ext cx="446940" cy="405613"/>
          </a:xfrm>
          <a:prstGeom prst="roundRect">
            <a:avLst/>
          </a:prstGeom>
          <a:solidFill>
            <a:srgbClr val="00B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redondeado 15"/>
          <p:cNvSpPr/>
          <p:nvPr/>
        </p:nvSpPr>
        <p:spPr>
          <a:xfrm>
            <a:off x="2590827" y="5825936"/>
            <a:ext cx="446940" cy="405613"/>
          </a:xfrm>
          <a:prstGeom prst="roundRect">
            <a:avLst/>
          </a:prstGeom>
          <a:solidFill>
            <a:srgbClr val="00B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redondeado 16"/>
          <p:cNvSpPr/>
          <p:nvPr/>
        </p:nvSpPr>
        <p:spPr>
          <a:xfrm>
            <a:off x="6076242" y="5793721"/>
            <a:ext cx="406761" cy="355207"/>
          </a:xfrm>
          <a:prstGeom prst="roundRect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3837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710032" y="1636201"/>
            <a:ext cx="493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28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LABELS</a:t>
            </a:r>
            <a:endParaRPr lang="es-AR" sz="28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7C77E145-A92F-6502-A931-286B34CA2310}"/>
              </a:ext>
            </a:extLst>
          </p:cNvPr>
          <p:cNvSpPr txBox="1"/>
          <p:nvPr/>
        </p:nvSpPr>
        <p:spPr>
          <a:xfrm>
            <a:off x="701154" y="903157"/>
            <a:ext cx="2113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DATASET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0DD0B780-378A-4F19-22BA-3C4E5A3E4BB9}"/>
              </a:ext>
            </a:extLst>
          </p:cNvPr>
          <p:cNvSpPr txBox="1"/>
          <p:nvPr/>
        </p:nvSpPr>
        <p:spPr>
          <a:xfrm>
            <a:off x="710032" y="492362"/>
            <a:ext cx="675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EDA</a:t>
            </a:r>
            <a:endParaRPr lang="es-ES" sz="20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10032" y="2246134"/>
            <a:ext cx="428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Usando el </a:t>
            </a:r>
            <a:r>
              <a:rPr lang="es-E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dataset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segmentado, vemos el tamaño de hoja…</a:t>
            </a:r>
            <a:endParaRPr 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4" y="3018309"/>
            <a:ext cx="7372331" cy="3658263"/>
          </a:xfrm>
          <a:prstGeom prst="rect">
            <a:avLst/>
          </a:prstGeom>
        </p:spPr>
      </p:pic>
      <p:sp>
        <p:nvSpPr>
          <p:cNvPr id="15" name="CuadroTexto 14"/>
          <p:cNvSpPr txBox="1"/>
          <p:nvPr/>
        </p:nvSpPr>
        <p:spPr>
          <a:xfrm>
            <a:off x="8083645" y="3018309"/>
            <a:ext cx="398643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/>
              <a:t>Se </a:t>
            </a:r>
            <a:r>
              <a:rPr lang="es-ES" sz="1600" dirty="0"/>
              <a:t>ve que </a:t>
            </a:r>
            <a:r>
              <a:rPr lang="es-ES" sz="1600" dirty="0" smtClean="0"/>
              <a:t>mayoritariamente </a:t>
            </a:r>
            <a:r>
              <a:rPr lang="es-ES" sz="1600" dirty="0"/>
              <a:t>siguen una distribución normal los tamaños de hoja</a:t>
            </a:r>
            <a:r>
              <a:rPr lang="es-ES" sz="1600" dirty="0" smtClean="0"/>
              <a:t>.</a:t>
            </a:r>
          </a:p>
          <a:p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/>
              <a:t>No </a:t>
            </a:r>
            <a:r>
              <a:rPr lang="es-ES" sz="1600" dirty="0"/>
              <a:t>se observan diferencias de tamaño entre misma especie sana o enferma, salvo para el </a:t>
            </a:r>
            <a:r>
              <a:rPr lang="es-ES" sz="1600" dirty="0" err="1"/>
              <a:t>maiz</a:t>
            </a:r>
            <a:r>
              <a:rPr lang="es-E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/>
              <a:t>El </a:t>
            </a:r>
            <a:r>
              <a:rPr lang="es-ES" sz="1600" dirty="0"/>
              <a:t>tamaño promedio de hoja de las especies esta alrededor del 50%, 60% de la imagen, con excepción del maíz que ocupa un mayor tamaño.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 rotWithShape="1">
          <a:blip r:embed="rId4"/>
          <a:srcRect b="85989"/>
          <a:stretch/>
        </p:blipFill>
        <p:spPr>
          <a:xfrm>
            <a:off x="5957888" y="203071"/>
            <a:ext cx="5046912" cy="251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90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8999033" cy="72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 smtClean="0">
                <a:latin typeface="Corbel" panose="020B0503020204020204" pitchFamily="34" charset="0"/>
              </a:rPr>
              <a:t>MODELLING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538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710032" y="889928"/>
            <a:ext cx="5461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Consideraciones generales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612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MODELLING</a:t>
            </a:r>
            <a:endParaRPr lang="es-AR" sz="2000" b="1" dirty="0">
              <a:solidFill>
                <a:srgbClr val="9E84C0"/>
              </a:solidFill>
              <a:latin typeface="Corbel" panose="020B0503020204020204" pitchFamily="34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710032" y="1775344"/>
            <a:ext cx="109231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DATASET CONSTRUCTOR: </a:t>
            </a:r>
            <a:r>
              <a:rPr lang="es-ES" dirty="0" smtClean="0"/>
              <a:t>Para cada instancia (imagen), </a:t>
            </a:r>
            <a:r>
              <a:rPr lang="es-ES" dirty="0"/>
              <a:t>seleccionamos aleatoriamente de cada uno de los 3 </a:t>
            </a:r>
            <a:r>
              <a:rPr lang="es-ES" dirty="0" err="1" smtClean="0"/>
              <a:t>datasets</a:t>
            </a:r>
            <a:r>
              <a:rPr lang="es-ES" dirty="0" smtClean="0"/>
              <a:t> </a:t>
            </a:r>
            <a:r>
              <a:rPr lang="es-ES" dirty="0" smtClean="0">
                <a:latin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s-ES" dirty="0" smtClean="0"/>
              <a:t>Mantenemos constante </a:t>
            </a:r>
            <a:r>
              <a:rPr lang="es-ES" dirty="0"/>
              <a:t>el tamaño del </a:t>
            </a:r>
            <a:r>
              <a:rPr lang="es-ES" dirty="0" err="1"/>
              <a:t>dataset</a:t>
            </a:r>
            <a:r>
              <a:rPr lang="es-ES" dirty="0"/>
              <a:t> </a:t>
            </a:r>
            <a:r>
              <a:rPr lang="es-ES" dirty="0" smtClean="0"/>
              <a:t>y buscamos que </a:t>
            </a:r>
            <a:r>
              <a:rPr lang="es-ES" dirty="0"/>
              <a:t>el modelo </a:t>
            </a:r>
            <a:r>
              <a:rPr lang="es-ES" dirty="0" smtClean="0"/>
              <a:t>generalice </a:t>
            </a:r>
            <a:r>
              <a:rPr lang="es-ES" dirty="0"/>
              <a:t>mejor con esta estrategia.</a:t>
            </a:r>
          </a:p>
          <a:p>
            <a:pPr lvl="1" algn="just"/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>Convertimos </a:t>
            </a:r>
            <a:r>
              <a:rPr lang="es-ES" dirty="0"/>
              <a:t>el problema a uno de clasificación </a:t>
            </a:r>
            <a:r>
              <a:rPr lang="es-ES" dirty="0" err="1" smtClean="0"/>
              <a:t>Multi</a:t>
            </a:r>
            <a:r>
              <a:rPr lang="es-ES" dirty="0" smtClean="0"/>
              <a:t>-Output</a:t>
            </a:r>
            <a:endParaRPr lang="es-ES" dirty="0"/>
          </a:p>
          <a:p>
            <a:pPr lvl="1" algn="just"/>
            <a:r>
              <a:rPr lang="es-ES" dirty="0"/>
              <a:t/>
            </a:r>
            <a:br>
              <a:rPr lang="es-ES" dirty="0"/>
            </a:br>
            <a:r>
              <a:rPr lang="es-ES" dirty="0"/>
              <a:t>1. Clasificamos </a:t>
            </a:r>
            <a:r>
              <a:rPr lang="es-ES" dirty="0" err="1"/>
              <a:t>Multilabel</a:t>
            </a:r>
            <a:r>
              <a:rPr lang="es-ES" dirty="0"/>
              <a:t> para la especie de planta</a:t>
            </a:r>
          </a:p>
          <a:p>
            <a:pPr lvl="1" algn="just"/>
            <a:r>
              <a:rPr lang="es-ES" dirty="0"/>
              <a:t>2. Clasificación Binaria para el estado de la planta: '</a:t>
            </a:r>
            <a:r>
              <a:rPr lang="es-ES" dirty="0" err="1"/>
              <a:t>Healthy</a:t>
            </a:r>
            <a:r>
              <a:rPr lang="es-ES" dirty="0"/>
              <a:t>' si está sana o '</a:t>
            </a:r>
            <a:r>
              <a:rPr lang="es-ES" dirty="0" err="1"/>
              <a:t>Diseased</a:t>
            </a:r>
            <a:r>
              <a:rPr lang="es-ES" dirty="0"/>
              <a:t>' si presenta patología</a:t>
            </a:r>
            <a:r>
              <a:rPr lang="es-ES" dirty="0" smtClean="0"/>
              <a:t>.</a:t>
            </a:r>
          </a:p>
          <a:p>
            <a:pPr lvl="1" algn="just"/>
            <a:endParaRPr lang="es-ES" dirty="0"/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TRAIN/VALIDATION/TEST SPLIT: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0" lvl="1" algn="just"/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Estratificado con los </a:t>
            </a:r>
            <a:r>
              <a:rPr lang="es-ES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labels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originales</a:t>
            </a:r>
          </a:p>
          <a:p>
            <a:pPr marL="0" lvl="1" algn="just"/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(38 clases) por el desbalance.</a:t>
            </a:r>
          </a:p>
          <a:p>
            <a:pPr marL="0" lvl="1" algn="just"/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PRE-PROCESAMIENTO:</a:t>
            </a: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23818" t="51638" r="55859" b="39061"/>
          <a:stretch/>
        </p:blipFill>
        <p:spPr>
          <a:xfrm>
            <a:off x="4081652" y="4328160"/>
            <a:ext cx="3670428" cy="944880"/>
          </a:xfrm>
          <a:prstGeom prst="rect">
            <a:avLst/>
          </a:prstGeom>
        </p:spPr>
      </p:pic>
      <p:sp>
        <p:nvSpPr>
          <p:cNvPr id="27" name="Rectángulo 26"/>
          <p:cNvSpPr/>
          <p:nvPr/>
        </p:nvSpPr>
        <p:spPr>
          <a:xfrm>
            <a:off x="2814320" y="5932439"/>
            <a:ext cx="1148080" cy="61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TO TENSOR</a:t>
            </a:r>
            <a:endParaRPr lang="es-ES" sz="1600" dirty="0"/>
          </a:p>
        </p:txBody>
      </p:sp>
      <p:cxnSp>
        <p:nvCxnSpPr>
          <p:cNvPr id="5" name="Conector recto de flecha 4"/>
          <p:cNvCxnSpPr>
            <a:stCxn id="27" idx="3"/>
          </p:cNvCxnSpPr>
          <p:nvPr/>
        </p:nvCxnSpPr>
        <p:spPr>
          <a:xfrm>
            <a:off x="3962400" y="6242319"/>
            <a:ext cx="6807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/>
          <p:cNvSpPr/>
          <p:nvPr/>
        </p:nvSpPr>
        <p:spPr>
          <a:xfrm>
            <a:off x="4643120" y="5936518"/>
            <a:ext cx="1889760" cy="61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 smtClean="0"/>
              <a:t>Resize</a:t>
            </a:r>
            <a:r>
              <a:rPr lang="es-ES" sz="1600" dirty="0" smtClean="0"/>
              <a:t> </a:t>
            </a:r>
            <a:r>
              <a:rPr lang="es-ES" sz="1600" dirty="0" err="1" smtClean="0"/>
              <a:t>to</a:t>
            </a:r>
            <a:r>
              <a:rPr lang="es-ES" sz="1600" dirty="0" smtClean="0"/>
              <a:t> 224x224 (RESNET18)</a:t>
            </a:r>
            <a:endParaRPr lang="es-ES" sz="1600" dirty="0"/>
          </a:p>
        </p:txBody>
      </p:sp>
      <p:cxnSp>
        <p:nvCxnSpPr>
          <p:cNvPr id="31" name="Conector recto de flecha 30"/>
          <p:cNvCxnSpPr/>
          <p:nvPr/>
        </p:nvCxnSpPr>
        <p:spPr>
          <a:xfrm>
            <a:off x="6532880" y="6242319"/>
            <a:ext cx="6807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/>
          <p:cNvSpPr/>
          <p:nvPr/>
        </p:nvSpPr>
        <p:spPr>
          <a:xfrm>
            <a:off x="7213600" y="5925357"/>
            <a:ext cx="2174240" cy="6197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NORMALIZE</a:t>
            </a:r>
            <a:br>
              <a:rPr lang="es-ES" sz="1600" dirty="0" smtClean="0"/>
            </a:br>
            <a:r>
              <a:rPr lang="es-ES" sz="1600" dirty="0" smtClean="0"/>
              <a:t>w.r.t. Train </a:t>
            </a:r>
            <a:r>
              <a:rPr lang="es-ES" sz="1600" dirty="0" err="1" smtClean="0"/>
              <a:t>dataset</a:t>
            </a:r>
            <a:endParaRPr lang="es-ES" sz="1600" dirty="0"/>
          </a:p>
        </p:txBody>
      </p:sp>
      <p:pic>
        <p:nvPicPr>
          <p:cNvPr id="37" name="Imagen 36"/>
          <p:cNvPicPr>
            <a:picLocks noChangeAspect="1"/>
          </p:cNvPicPr>
          <p:nvPr/>
        </p:nvPicPr>
        <p:blipFill rotWithShape="1">
          <a:blip r:embed="rId4"/>
          <a:srcRect l="23818" t="42717" r="55298" b="48203"/>
          <a:stretch/>
        </p:blipFill>
        <p:spPr>
          <a:xfrm>
            <a:off x="7891651" y="4328160"/>
            <a:ext cx="3863469" cy="94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8999033" cy="72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 smtClean="0">
                <a:latin typeface="Corbel" panose="020B0503020204020204" pitchFamily="34" charset="0"/>
              </a:rPr>
              <a:t>MODEL #1: BASELINE SIMPLE CNN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7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Arquitectura</a:t>
            </a:r>
            <a:endParaRPr lang="es-AR" sz="24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4295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Basline</a:t>
            </a:r>
            <a:r>
              <a:rPr lang="es-A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SIMPLE CNN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MODELO #1</a:t>
            </a:r>
            <a:endParaRPr lang="es-AR" sz="2000" b="1" dirty="0">
              <a:solidFill>
                <a:srgbClr val="9E84C0"/>
              </a:solidFill>
              <a:latin typeface="Corbel" panose="020B0503020204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904240" y="2560320"/>
            <a:ext cx="883920" cy="812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IMAGE</a:t>
            </a:r>
            <a:endParaRPr lang="es-ES" sz="1600" dirty="0"/>
          </a:p>
        </p:txBody>
      </p:sp>
      <p:cxnSp>
        <p:nvCxnSpPr>
          <p:cNvPr id="10" name="Conector recto de flecha 9"/>
          <p:cNvCxnSpPr>
            <a:stCxn id="4" idx="3"/>
          </p:cNvCxnSpPr>
          <p:nvPr/>
        </p:nvCxnSpPr>
        <p:spPr>
          <a:xfrm>
            <a:off x="1788160" y="2966720"/>
            <a:ext cx="430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2218394" y="2560320"/>
            <a:ext cx="1672886" cy="812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CONVOLUTIONAL BLOCK</a:t>
            </a:r>
            <a:endParaRPr lang="es-ES" sz="1600" dirty="0"/>
          </a:p>
        </p:txBody>
      </p:sp>
      <p:sp>
        <p:nvSpPr>
          <p:cNvPr id="16" name="Rectángulo 15"/>
          <p:cNvSpPr/>
          <p:nvPr/>
        </p:nvSpPr>
        <p:spPr>
          <a:xfrm>
            <a:off x="4321514" y="2568694"/>
            <a:ext cx="1130892" cy="812800"/>
          </a:xfrm>
          <a:prstGeom prst="rect">
            <a:avLst/>
          </a:prstGeom>
          <a:solidFill>
            <a:schemeClr val="accent3">
              <a:lumMod val="90000"/>
            </a:schemeClr>
          </a:solidFill>
          <a:ln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DROPOUT</a:t>
            </a:r>
            <a:endParaRPr lang="es-ES" sz="1600" dirty="0"/>
          </a:p>
        </p:txBody>
      </p:sp>
      <p:cxnSp>
        <p:nvCxnSpPr>
          <p:cNvPr id="19" name="Conector recto de flecha 18"/>
          <p:cNvCxnSpPr/>
          <p:nvPr/>
        </p:nvCxnSpPr>
        <p:spPr>
          <a:xfrm>
            <a:off x="3891280" y="2966720"/>
            <a:ext cx="430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>
            <a:off x="5452406" y="2966720"/>
            <a:ext cx="430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/>
          <p:cNvSpPr/>
          <p:nvPr/>
        </p:nvSpPr>
        <p:spPr>
          <a:xfrm>
            <a:off x="5882640" y="2560320"/>
            <a:ext cx="1672886" cy="812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CONVOLUTIONAL BLOCK</a:t>
            </a:r>
            <a:endParaRPr lang="es-ES" sz="1600" dirty="0"/>
          </a:p>
        </p:txBody>
      </p:sp>
      <p:cxnSp>
        <p:nvCxnSpPr>
          <p:cNvPr id="23" name="Conector recto de flecha 22"/>
          <p:cNvCxnSpPr/>
          <p:nvPr/>
        </p:nvCxnSpPr>
        <p:spPr>
          <a:xfrm>
            <a:off x="7555526" y="2936698"/>
            <a:ext cx="4302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/>
          <p:cNvSpPr/>
          <p:nvPr/>
        </p:nvSpPr>
        <p:spPr>
          <a:xfrm>
            <a:off x="7985760" y="2530298"/>
            <a:ext cx="1672886" cy="812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CONVOLUTIONAL BLOCK</a:t>
            </a:r>
            <a:endParaRPr lang="es-ES" sz="1600" dirty="0"/>
          </a:p>
        </p:txBody>
      </p:sp>
      <p:sp>
        <p:nvSpPr>
          <p:cNvPr id="25" name="Rectángulo 24"/>
          <p:cNvSpPr/>
          <p:nvPr/>
        </p:nvSpPr>
        <p:spPr>
          <a:xfrm>
            <a:off x="10146326" y="1821364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CLASSIFICATION  HEAD </a:t>
            </a:r>
            <a:r>
              <a:rPr lang="es-ES" sz="1600" dirty="0" smtClean="0">
                <a:solidFill>
                  <a:schemeClr val="tx1"/>
                </a:solidFill>
              </a:rPr>
              <a:t>OUTPUT1</a:t>
            </a:r>
            <a:endParaRPr lang="es-ES" sz="1600" dirty="0">
              <a:solidFill>
                <a:schemeClr val="tx1"/>
              </a:solidFill>
            </a:endParaRPr>
          </a:p>
        </p:txBody>
      </p:sp>
      <p:cxnSp>
        <p:nvCxnSpPr>
          <p:cNvPr id="28" name="Conector angular 27"/>
          <p:cNvCxnSpPr>
            <a:stCxn id="24" idx="3"/>
            <a:endCxn id="25" idx="1"/>
          </p:cNvCxnSpPr>
          <p:nvPr/>
        </p:nvCxnSpPr>
        <p:spPr>
          <a:xfrm flipV="1">
            <a:off x="9658646" y="2227764"/>
            <a:ext cx="487680" cy="708934"/>
          </a:xfrm>
          <a:prstGeom prst="bentConnector3">
            <a:avLst/>
          </a:prstGeom>
          <a:ln>
            <a:solidFill>
              <a:schemeClr val="accent3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r 29"/>
          <p:cNvCxnSpPr>
            <a:stCxn id="24" idx="3"/>
          </p:cNvCxnSpPr>
          <p:nvPr/>
        </p:nvCxnSpPr>
        <p:spPr>
          <a:xfrm>
            <a:off x="9658646" y="2936698"/>
            <a:ext cx="487680" cy="444796"/>
          </a:xfrm>
          <a:prstGeom prst="bentConnector3">
            <a:avLst/>
          </a:prstGeom>
          <a:ln>
            <a:solidFill>
              <a:schemeClr val="accent3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>
            <a:off x="2468880" y="3381494"/>
            <a:ext cx="0" cy="966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/>
          <p:cNvSpPr txBox="1"/>
          <p:nvPr/>
        </p:nvSpPr>
        <p:spPr>
          <a:xfrm>
            <a:off x="2468880" y="3482225"/>
            <a:ext cx="19925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Convolutional</a:t>
            </a:r>
            <a:r>
              <a:rPr lang="es-E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layer</a:t>
            </a:r>
            <a:endParaRPr lang="es-E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s-E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Tanh</a:t>
            </a:r>
            <a:endParaRPr lang="es-E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s-E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MaxPooling</a:t>
            </a:r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682257" y="4863984"/>
            <a:ext cx="4323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ENTRENABLES: </a:t>
            </a: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189,751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5" name="Rectángulo 34"/>
          <p:cNvSpPr/>
          <p:nvPr/>
        </p:nvSpPr>
        <p:spPr>
          <a:xfrm>
            <a:off x="10146326" y="3052187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CLASSIFICATION  HEAD </a:t>
            </a:r>
            <a:r>
              <a:rPr lang="es-ES" sz="1600" dirty="0" smtClean="0">
                <a:solidFill>
                  <a:schemeClr val="tx1"/>
                </a:solidFill>
              </a:rPr>
              <a:t>OUTPUT2</a:t>
            </a:r>
            <a:endParaRPr lang="es-E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659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Entrenamiento</a:t>
            </a:r>
            <a:endParaRPr lang="es-AR" sz="24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4295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Basline</a:t>
            </a:r>
            <a:r>
              <a:rPr lang="es-A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SIMPLE CNN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MODELO #1</a:t>
            </a:r>
            <a:endParaRPr lang="es-AR" sz="2000" b="1" dirty="0">
              <a:solidFill>
                <a:srgbClr val="9E84C0"/>
              </a:solidFill>
              <a:latin typeface="Corbel" panose="020B0503020204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2" y="2483371"/>
            <a:ext cx="11010798" cy="3670266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710032" y="2160206"/>
            <a:ext cx="200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EPOCHS: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30</a:t>
            </a: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454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8999033" cy="134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 smtClean="0">
                <a:latin typeface="Corbel" panose="020B0503020204020204" pitchFamily="34" charset="0"/>
              </a:rPr>
              <a:t>MODEL #2: SIMPLE CNN </a:t>
            </a:r>
            <a:r>
              <a:rPr lang="es-ES" sz="4400" b="1" dirty="0" err="1" smtClean="0">
                <a:latin typeface="Corbel" panose="020B0503020204020204" pitchFamily="34" charset="0"/>
              </a:rPr>
              <a:t>with</a:t>
            </a:r>
            <a:r>
              <a:rPr lang="es-ES" sz="4400" b="1" dirty="0" smtClean="0">
                <a:latin typeface="Corbel" panose="020B0503020204020204" pitchFamily="34" charset="0"/>
              </a:rPr>
              <a:t> </a:t>
            </a:r>
            <a:r>
              <a:rPr lang="es-ES" sz="4400" b="1" dirty="0" err="1" smtClean="0">
                <a:latin typeface="Corbel" panose="020B0503020204020204" pitchFamily="34" charset="0"/>
              </a:rPr>
              <a:t>RandAugmentation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05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8047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Data </a:t>
            </a:r>
            <a:r>
              <a:rPr lang="es-AR" sz="2400" b="1" dirty="0" err="1" smtClean="0">
                <a:solidFill>
                  <a:srgbClr val="2C5EA6"/>
                </a:solidFill>
                <a:latin typeface="Corbel" panose="020B0503020204020204" pitchFamily="34" charset="0"/>
              </a:rPr>
              <a:t>Augmentation</a:t>
            </a:r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: RAND AUGMENTATION TRANSFORM</a:t>
            </a:r>
            <a:endParaRPr lang="es-AR" sz="24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7874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SIMPLE CNN </a:t>
            </a:r>
            <a:r>
              <a:rPr lang="es-AR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with</a:t>
            </a:r>
            <a:r>
              <a:rPr lang="es-A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Rand </a:t>
            </a:r>
            <a:r>
              <a:rPr lang="es-AR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Augmentation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MODELO </a:t>
            </a:r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#2</a:t>
            </a:r>
            <a:endParaRPr lang="es-AR" sz="2000" b="1" dirty="0">
              <a:solidFill>
                <a:srgbClr val="9E84C0"/>
              </a:solidFill>
              <a:latin typeface="Corbel" panose="020B0503020204020204" pitchFamily="34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631457" y="2374784"/>
            <a:ext cx="710829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FUENTE: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Procedimiento automático que aplica una serie de transformaciones pre-definidas dentro de 14. Mejor performance que otras técnicas similares.</a:t>
            </a:r>
          </a:p>
          <a:p>
            <a:pPr algn="just"/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2 </a:t>
            </a:r>
            <a:r>
              <a:rPr lang="es-E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párametros</a:t>
            </a: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: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</a:t>
            </a: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N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: </a:t>
            </a: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Número 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transformaciones a aplicar secuencialmente.</a:t>
            </a:r>
          </a:p>
          <a:p>
            <a:pPr algn="just"/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	M: Magnitud 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de todas las transformaciones. </a:t>
            </a: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			Valor entre [1, 10], donde 10 indica la máxima escala para 		una transformación dada.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l="50430" t="43332" r="20458" b="11676"/>
          <a:stretch/>
        </p:blipFill>
        <p:spPr>
          <a:xfrm>
            <a:off x="7648314" y="2374784"/>
            <a:ext cx="4452246" cy="387026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4"/>
          <a:srcRect l="28167" t="34148" r="24000" b="43037"/>
          <a:stretch/>
        </p:blipFill>
        <p:spPr>
          <a:xfrm>
            <a:off x="2046697" y="2446597"/>
            <a:ext cx="3948283" cy="10592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595" y="4161155"/>
            <a:ext cx="4520565" cy="114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4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Entrenamiento</a:t>
            </a:r>
            <a:endParaRPr lang="es-AR" sz="24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7874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SIMPLE CNN </a:t>
            </a:r>
            <a:r>
              <a:rPr lang="es-A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with</a:t>
            </a: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Rand </a:t>
            </a:r>
            <a:r>
              <a:rPr lang="es-A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Augmentation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MODELO </a:t>
            </a:r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#2</a:t>
            </a:r>
            <a:endParaRPr lang="es-AR" sz="2000" b="1" dirty="0">
              <a:solidFill>
                <a:srgbClr val="9E84C0"/>
              </a:solidFill>
              <a:latin typeface="Corbel" panose="020B0503020204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2" y="2351292"/>
            <a:ext cx="11315700" cy="3771900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710032" y="2160206"/>
            <a:ext cx="200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EPOCHS: </a:t>
            </a:r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30</a:t>
            </a: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8900160" y="1213093"/>
            <a:ext cx="312557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E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OBSERVACIÓN</a:t>
            </a: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REQUIERE MÁS EPOCHS QUE SIN DATA AUG.</a:t>
            </a: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516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9804766" cy="720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 smtClean="0">
                <a:latin typeface="Corbel" panose="020B0503020204020204" pitchFamily="34" charset="0"/>
              </a:rPr>
              <a:t>MODEL #3: PRE-TRAINED RESNET18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28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778983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Arquitectura</a:t>
            </a:r>
            <a:endParaRPr lang="es-AR" sz="24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5328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PRE-TRAINED RESNET18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MODELO </a:t>
            </a:r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#3</a:t>
            </a:r>
            <a:endParaRPr lang="es-AR" sz="2000" b="1" dirty="0">
              <a:solidFill>
                <a:srgbClr val="9E84C0"/>
              </a:solidFill>
              <a:latin typeface="Corbel" panose="020B0503020204020204" pitchFamily="34" charset="0"/>
            </a:endParaRPr>
          </a:p>
        </p:txBody>
      </p:sp>
      <p:sp>
        <p:nvSpPr>
          <p:cNvPr id="25" name="Rectángulo 24"/>
          <p:cNvSpPr/>
          <p:nvPr/>
        </p:nvSpPr>
        <p:spPr>
          <a:xfrm>
            <a:off x="9404609" y="2802739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CLASSIFICATION  HEAD </a:t>
            </a:r>
            <a:r>
              <a:rPr lang="es-ES" sz="1600" dirty="0" smtClean="0">
                <a:solidFill>
                  <a:schemeClr val="tx1"/>
                </a:solidFill>
              </a:rPr>
              <a:t>OUTPUT1</a:t>
            </a:r>
            <a:endParaRPr lang="es-ES" sz="1600" dirty="0">
              <a:solidFill>
                <a:schemeClr val="tx1"/>
              </a:solidFill>
            </a:endParaRPr>
          </a:p>
        </p:txBody>
      </p:sp>
      <p:cxnSp>
        <p:nvCxnSpPr>
          <p:cNvPr id="28" name="Conector angular 27"/>
          <p:cNvCxnSpPr>
            <a:endCxn id="25" idx="1"/>
          </p:cNvCxnSpPr>
          <p:nvPr/>
        </p:nvCxnSpPr>
        <p:spPr>
          <a:xfrm flipV="1">
            <a:off x="8916929" y="3209139"/>
            <a:ext cx="487680" cy="708934"/>
          </a:xfrm>
          <a:prstGeom prst="bentConnector3">
            <a:avLst/>
          </a:prstGeom>
          <a:ln>
            <a:solidFill>
              <a:schemeClr val="accent3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r 29"/>
          <p:cNvCxnSpPr/>
          <p:nvPr/>
        </p:nvCxnSpPr>
        <p:spPr>
          <a:xfrm>
            <a:off x="8916929" y="3918073"/>
            <a:ext cx="487680" cy="444796"/>
          </a:xfrm>
          <a:prstGeom prst="bentConnector3">
            <a:avLst/>
          </a:prstGeom>
          <a:ln>
            <a:solidFill>
              <a:schemeClr val="accent3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/>
          <p:cNvSpPr txBox="1"/>
          <p:nvPr/>
        </p:nvSpPr>
        <p:spPr>
          <a:xfrm>
            <a:off x="682257" y="5073102"/>
            <a:ext cx="53564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TOTALES: </a:t>
            </a: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11,184,207</a:t>
            </a:r>
            <a:endParaRPr lang="es-E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ENTRENABLES: </a:t>
            </a: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7,695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NO-ENTRENABLES: </a:t>
            </a: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11,176,512</a:t>
            </a: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5" name="Rectángulo 34"/>
          <p:cNvSpPr/>
          <p:nvPr/>
        </p:nvSpPr>
        <p:spPr>
          <a:xfrm>
            <a:off x="9404609" y="4033562"/>
            <a:ext cx="1672886" cy="812800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smtClean="0"/>
              <a:t>CLASSIFICATION  HEAD </a:t>
            </a:r>
            <a:r>
              <a:rPr lang="es-ES" sz="1600" dirty="0" smtClean="0">
                <a:solidFill>
                  <a:schemeClr val="tx1"/>
                </a:solidFill>
              </a:rPr>
              <a:t>OUTPUT2</a:t>
            </a:r>
            <a:endParaRPr lang="es-ES" sz="1600" dirty="0">
              <a:solidFill>
                <a:schemeClr val="tx1"/>
              </a:solidFill>
            </a:endParaRPr>
          </a:p>
        </p:txBody>
      </p:sp>
      <p:pic>
        <p:nvPicPr>
          <p:cNvPr id="1028" name="Picture 4" descr="Original ResNet-18 Architecture | Download Scientific Diagra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63"/>
          <a:stretch/>
        </p:blipFill>
        <p:spPr bwMode="auto">
          <a:xfrm>
            <a:off x="1676024" y="2473212"/>
            <a:ext cx="7281545" cy="21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314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5" y="2483371"/>
            <a:ext cx="11325225" cy="377190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710032" y="1778983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Entrenamiento</a:t>
            </a:r>
            <a:endParaRPr lang="es-AR" sz="24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5328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PRE-TRAINED RESNET18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MODELO </a:t>
            </a:r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#3</a:t>
            </a:r>
            <a:endParaRPr lang="es-AR" sz="2000" b="1" dirty="0">
              <a:solidFill>
                <a:srgbClr val="9E84C0"/>
              </a:solidFill>
              <a:latin typeface="Corbel" panose="020B0503020204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710032" y="2160206"/>
            <a:ext cx="20026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EPOCHS: </a:t>
            </a:r>
            <a:r>
              <a:rPr lang="es-E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5</a:t>
            </a:r>
            <a:endParaRPr lang="es-ES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530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10434686" cy="720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 smtClean="0">
                <a:latin typeface="Corbel" panose="020B0503020204020204" pitchFamily="34" charset="0"/>
              </a:rPr>
              <a:t>MODEL #4: RESNET18 FROM SCRATCH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888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28" y="2711450"/>
            <a:ext cx="11325225" cy="37719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10032" y="889928"/>
            <a:ext cx="54368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RESNET18 </a:t>
            </a:r>
            <a:r>
              <a:rPr lang="es-AR" sz="36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from</a:t>
            </a:r>
            <a:r>
              <a:rPr lang="es-AR" sz="3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 SCRATCH</a:t>
            </a:r>
            <a:endParaRPr lang="es-AR" sz="3600" b="1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1574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MODELO </a:t>
            </a:r>
            <a:r>
              <a:rPr lang="es-AR" sz="2000" b="1" dirty="0" smtClean="0">
                <a:solidFill>
                  <a:srgbClr val="9E84C0"/>
                </a:solidFill>
                <a:latin typeface="Corbel" panose="020B0503020204020204" pitchFamily="34" charset="0"/>
              </a:rPr>
              <a:t>#4</a:t>
            </a:r>
            <a:endParaRPr lang="es-AR" sz="2000" b="1" dirty="0">
              <a:solidFill>
                <a:srgbClr val="9E84C0"/>
              </a:solidFill>
              <a:latin typeface="Corbel" panose="020B0503020204020204" pitchFamily="34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14337" y="2415424"/>
            <a:ext cx="43236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PARÁMETROS </a:t>
            </a:r>
            <a:r>
              <a:rPr lang="es-E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ENTRENABLES: </a:t>
            </a:r>
            <a:r>
              <a:rPr lang="es-ES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11,184,207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EPOCHS: 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5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  <a:p>
            <a:pPr algn="just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710032" y="1778983"/>
            <a:ext cx="219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Entrenamiento</a:t>
            </a:r>
            <a:endParaRPr lang="es-AR" sz="24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048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/>
          <p:cNvSpPr txBox="1"/>
          <p:nvPr/>
        </p:nvSpPr>
        <p:spPr>
          <a:xfrm>
            <a:off x="1289954" y="4274802"/>
            <a:ext cx="10434686" cy="134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900"/>
              </a:lnSpc>
              <a:defRPr/>
            </a:pPr>
            <a:r>
              <a:rPr lang="es-ES" sz="4400" b="1" dirty="0" smtClean="0">
                <a:latin typeface="Corbel" panose="020B0503020204020204" pitchFamily="34" charset="0"/>
              </a:rPr>
              <a:t>COMPARACIÓN DE MODELOS y EVALUACIÓN DE PERFORMANCE</a:t>
            </a:r>
            <a:endParaRPr lang="es-AR" sz="40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926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/>
          <p:cNvSpPr txBox="1"/>
          <p:nvPr/>
        </p:nvSpPr>
        <p:spPr>
          <a:xfrm>
            <a:off x="710032" y="889928"/>
            <a:ext cx="4995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Evaluación sobre el </a:t>
            </a:r>
            <a:r>
              <a:rPr lang="es-AR" sz="3600" b="1" dirty="0" smtClean="0">
                <a:latin typeface="Corbel" panose="020B0503020204020204" pitchFamily="34" charset="0"/>
              </a:rPr>
              <a:t>Test 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710032" y="492362"/>
            <a:ext cx="2983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D83BF"/>
                </a:solidFill>
                <a:latin typeface="Corbel" panose="020B0503020204020204" pitchFamily="34" charset="0"/>
              </a:rPr>
              <a:t>Comparación de modelos</a:t>
            </a:r>
            <a:endParaRPr lang="es-AR" sz="2000" b="1" dirty="0">
              <a:solidFill>
                <a:srgbClr val="9D83BF"/>
              </a:solidFill>
              <a:latin typeface="Corbel" panose="020B0503020204020204" pitchFamily="34" charset="0"/>
            </a:endParaRPr>
          </a:p>
        </p:txBody>
      </p:sp>
      <p:graphicFrame>
        <p:nvGraphicFramePr>
          <p:cNvPr id="28" name="Google Shape;189;p28"/>
          <p:cNvGraphicFramePr/>
          <p:nvPr>
            <p:extLst>
              <p:ext uri="{D42A27DB-BD31-4B8C-83A1-F6EECF244321}">
                <p14:modId xmlns:p14="http://schemas.microsoft.com/office/powerpoint/2010/main" val="2673625744"/>
              </p:ext>
            </p:extLst>
          </p:nvPr>
        </p:nvGraphicFramePr>
        <p:xfrm>
          <a:off x="1473201" y="2117388"/>
          <a:ext cx="9072882" cy="3505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8391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122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78560"/>
                <a:gridCol w="1503680"/>
                <a:gridCol w="1502231"/>
                <a:gridCol w="129612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9612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1241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MODELO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EPOCHS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Parámetros</a:t>
                      </a:r>
                      <a:r>
                        <a:rPr lang="es-ES" sz="1600" baseline="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 </a:t>
                      </a:r>
                      <a:r>
                        <a:rPr lang="es-ES" sz="1600" baseline="0" dirty="0" err="1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entrenables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Loss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F1-score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241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PLANT</a:t>
                      </a:r>
                      <a:r>
                        <a:rPr lang="en" sz="1600" baseline="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 SPECIES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HEALTH STATUS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1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#1</a:t>
                      </a:r>
                      <a:endParaRPr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Baseline Simple</a:t>
                      </a:r>
                      <a:r>
                        <a:rPr lang="en" sz="1600" b="1" baseline="0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CNN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30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189,751</a:t>
                      </a:r>
                      <a:endParaRPr lang="en-US" sz="1600" b="1" kern="1200" dirty="0" smtClean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1.562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0.6148 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0.7891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81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#2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Simple CNN w/RA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30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189,751</a:t>
                      </a:r>
                      <a:endParaRPr lang="en-US" sz="1600" b="1" kern="1200" dirty="0" smtClean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1.366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>
                          <a:effectLst/>
                        </a:rPr>
                        <a:t>0.674</a:t>
                      </a:r>
                      <a:endParaRPr lang="es-ES" dirty="0">
                        <a:effectLst/>
                      </a:endParaRPr>
                    </a:p>
                  </a:txBody>
                  <a:tcPr marL="60960" marR="60960" marT="30480" marB="3048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>
                          <a:effectLst/>
                        </a:rPr>
                        <a:t>0.801</a:t>
                      </a:r>
                      <a:endParaRPr lang="es-ES" dirty="0">
                        <a:effectLst/>
                      </a:endParaRPr>
                    </a:p>
                  </a:txBody>
                  <a:tcPr marL="60960" marR="60960" marT="30480" marB="3048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81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#3</a:t>
                      </a: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RESNET18 pretrained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7,695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0.564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>
                          <a:effectLst/>
                        </a:rPr>
                        <a:t>0.931</a:t>
                      </a:r>
                      <a:endParaRPr lang="es-ES" dirty="0">
                        <a:effectLst/>
                      </a:endParaRPr>
                    </a:p>
                  </a:txBody>
                  <a:tcPr marL="60960" marR="60960" marT="30480" marB="3048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>
                          <a:effectLst/>
                        </a:rPr>
                        <a:t>0.917</a:t>
                      </a:r>
                      <a:endParaRPr lang="es-ES" dirty="0">
                        <a:effectLst/>
                      </a:endParaRPr>
                    </a:p>
                  </a:txBody>
                  <a:tcPr marL="60960" marR="60960" marT="30480" marB="30480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81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smtClean="0">
                          <a:solidFill>
                            <a:schemeClr val="dk2"/>
                          </a:solidFill>
                          <a:latin typeface="+mn-lt"/>
                          <a:ea typeface="Open Sans Light"/>
                          <a:cs typeface="Open Sans Light"/>
                          <a:sym typeface="Open Sans Light"/>
                        </a:rPr>
                        <a:t>#4</a:t>
                      </a:r>
                      <a:endParaRPr lang="es-ES" sz="1600" dirty="0">
                        <a:solidFill>
                          <a:schemeClr val="dk2"/>
                        </a:solidFill>
                        <a:latin typeface="+mn-l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RESNET 18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err="1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From</a:t>
                      </a:r>
                      <a:r>
                        <a:rPr lang="es-ES" sz="1600" b="1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s-ES" sz="1600" b="1" dirty="0" err="1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Scratch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Open Sans"/>
                          <a:cs typeface="Open Sans"/>
                        </a:rPr>
                        <a:t>11,184,207</a:t>
                      </a: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0.015</a:t>
                      </a:r>
                      <a:endParaRPr sz="1600" b="1" dirty="0">
                        <a:solidFill>
                          <a:schemeClr val="dk1"/>
                        </a:solidFill>
                        <a:latin typeface="+mn-lt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68575" marB="68575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smtClean="0">
                          <a:effectLst/>
                        </a:rPr>
                        <a:t>0.998</a:t>
                      </a:r>
                      <a:endParaRPr lang="es-ES" dirty="0">
                        <a:effectLst/>
                      </a:endParaRPr>
                    </a:p>
                  </a:txBody>
                  <a:tcPr marL="60960" marR="60960" marT="30480" marB="3048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mtClean="0">
                          <a:effectLst/>
                        </a:rPr>
                        <a:t>0.998</a:t>
                      </a:r>
                      <a:endParaRPr lang="es-ES" dirty="0">
                        <a:effectLst/>
                      </a:endParaRPr>
                    </a:p>
                  </a:txBody>
                  <a:tcPr marL="60960" marR="60960" marT="30480" marB="3048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950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821364"/>
            <a:ext cx="4962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err="1" smtClean="0">
                <a:solidFill>
                  <a:srgbClr val="2C5EA6"/>
                </a:solidFill>
                <a:latin typeface="Corbel" panose="020B0503020204020204" pitchFamily="34" charset="0"/>
              </a:rPr>
              <a:t>Confusion</a:t>
            </a:r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 </a:t>
            </a:r>
            <a:r>
              <a:rPr lang="es-AR" sz="2400" b="1" dirty="0" err="1" smtClean="0">
                <a:solidFill>
                  <a:srgbClr val="2C5EA6"/>
                </a:solidFill>
                <a:latin typeface="Corbel" panose="020B0503020204020204" pitchFamily="34" charset="0"/>
              </a:rPr>
              <a:t>matrix</a:t>
            </a:r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: PLANT SPECIES</a:t>
            </a:r>
            <a:endParaRPr lang="es-AR" sz="24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0032" y="889928"/>
            <a:ext cx="939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MODELO #4 RESNET18 </a:t>
            </a:r>
            <a:r>
              <a:rPr lang="es-AR" sz="3600" b="1" dirty="0" err="1" smtClean="0">
                <a:latin typeface="Corbel" panose="020B0503020204020204" pitchFamily="34" charset="0"/>
              </a:rPr>
              <a:t>from</a:t>
            </a:r>
            <a:r>
              <a:rPr lang="es-AR" sz="3600" b="1" dirty="0" smtClean="0">
                <a:latin typeface="Corbel" panose="020B0503020204020204" pitchFamily="34" charset="0"/>
              </a:rPr>
              <a:t> SCRATCH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710032" y="492362"/>
            <a:ext cx="517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D83BF"/>
                </a:solidFill>
                <a:latin typeface="Corbel" panose="020B0503020204020204" pitchFamily="34" charset="0"/>
              </a:rPr>
              <a:t>Evaluación de performance del mejor modelo</a:t>
            </a:r>
            <a:endParaRPr lang="es-AR" sz="2000" b="1" dirty="0">
              <a:solidFill>
                <a:srgbClr val="9D83BF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236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710032" y="1821364"/>
            <a:ext cx="4665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 err="1" smtClean="0">
                <a:solidFill>
                  <a:srgbClr val="2C5EA6"/>
                </a:solidFill>
                <a:latin typeface="Corbel" panose="020B0503020204020204" pitchFamily="34" charset="0"/>
              </a:rPr>
              <a:t>Confusion</a:t>
            </a:r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 </a:t>
            </a:r>
            <a:r>
              <a:rPr lang="es-AR" sz="2400" b="1" dirty="0" err="1" smtClean="0">
                <a:solidFill>
                  <a:srgbClr val="2C5EA6"/>
                </a:solidFill>
                <a:latin typeface="Corbel" panose="020B0503020204020204" pitchFamily="34" charset="0"/>
              </a:rPr>
              <a:t>matrix</a:t>
            </a:r>
            <a:r>
              <a:rPr lang="es-AR" sz="2400" b="1" dirty="0" smtClean="0">
                <a:solidFill>
                  <a:srgbClr val="2C5EA6"/>
                </a:solidFill>
                <a:latin typeface="Corbel" panose="020B0503020204020204" pitchFamily="34" charset="0"/>
              </a:rPr>
              <a:t>: HEALTH STATE</a:t>
            </a:r>
            <a:endParaRPr lang="es-AR" sz="2400" b="1" dirty="0">
              <a:solidFill>
                <a:srgbClr val="2C5EA6"/>
              </a:solidFill>
              <a:latin typeface="Corbel" panose="020B0503020204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l="4173" t="56112" r="-4173" b="-1410"/>
          <a:stretch/>
        </p:blipFill>
        <p:spPr>
          <a:xfrm>
            <a:off x="944439" y="2446214"/>
            <a:ext cx="9900153" cy="4015546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10032" y="889928"/>
            <a:ext cx="939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MODELO #4 RESNET18 </a:t>
            </a:r>
            <a:r>
              <a:rPr lang="es-AR" sz="3600" b="1" dirty="0" err="1" smtClean="0">
                <a:latin typeface="Corbel" panose="020B0503020204020204" pitchFamily="34" charset="0"/>
              </a:rPr>
              <a:t>from</a:t>
            </a:r>
            <a:r>
              <a:rPr lang="es-AR" sz="3600" b="1" dirty="0" smtClean="0">
                <a:latin typeface="Corbel" panose="020B0503020204020204" pitchFamily="34" charset="0"/>
              </a:rPr>
              <a:t> SCRATCH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710032" y="492362"/>
            <a:ext cx="5171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 smtClean="0">
                <a:solidFill>
                  <a:srgbClr val="9D83BF"/>
                </a:solidFill>
                <a:latin typeface="Corbel" panose="020B0503020204020204" pitchFamily="34" charset="0"/>
              </a:rPr>
              <a:t>Evaluación de performance del mejor modelo</a:t>
            </a:r>
            <a:endParaRPr lang="es-AR" sz="2000" b="1" dirty="0">
              <a:solidFill>
                <a:srgbClr val="9D83BF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41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/>
          <p:cNvSpPr txBox="1"/>
          <p:nvPr/>
        </p:nvSpPr>
        <p:spPr>
          <a:xfrm>
            <a:off x="710032" y="889928"/>
            <a:ext cx="5448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5649913" algn="l"/>
              </a:tabLst>
            </a:pPr>
            <a:r>
              <a:rPr lang="es-AR" sz="3600" b="1" dirty="0" smtClean="0">
                <a:latin typeface="Corbel" panose="020B0503020204020204" pitchFamily="34" charset="0"/>
              </a:rPr>
              <a:t>CONCLUSIONES FINALES</a:t>
            </a:r>
            <a:endParaRPr lang="es-AR" sz="3600" b="1" dirty="0">
              <a:latin typeface="Corbel" panose="020B0503020204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85457" y="1876944"/>
            <a:ext cx="7108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rbel" panose="020B0503020204020204" pitchFamily="34" charset="0"/>
              </a:rPr>
              <a:t>xxx</a:t>
            </a:r>
            <a:endParaRPr lang="es-ES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71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E1043D8C-BFD1-4EEC-A4DB-44C77E193336}"/>
              </a:ext>
            </a:extLst>
          </p:cNvPr>
          <p:cNvSpPr txBox="1"/>
          <p:nvPr/>
        </p:nvSpPr>
        <p:spPr>
          <a:xfrm>
            <a:off x="1531497" y="2383020"/>
            <a:ext cx="90203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5649913" algn="l"/>
              </a:tabLst>
            </a:pPr>
            <a:r>
              <a:rPr lang="es-AR" sz="5400" b="1" dirty="0" smtClean="0">
                <a:solidFill>
                  <a:schemeClr val="bg1"/>
                </a:solidFill>
                <a:latin typeface="Corbel" panose="020B0503020204020204" pitchFamily="34" charset="0"/>
              </a:rPr>
              <a:t>Gracias por la atención</a:t>
            </a:r>
          </a:p>
          <a:p>
            <a:pPr algn="ctr">
              <a:tabLst>
                <a:tab pos="5649913" algn="l"/>
              </a:tabLst>
            </a:pPr>
            <a:endParaRPr lang="es-AR" sz="5400" b="1" dirty="0">
              <a:solidFill>
                <a:schemeClr val="bg1"/>
              </a:solidFill>
              <a:latin typeface="Corbel" panose="020B0503020204020204" pitchFamily="34" charset="0"/>
            </a:endParaRPr>
          </a:p>
          <a:p>
            <a:pPr algn="ctr">
              <a:tabLst>
                <a:tab pos="5649913" algn="l"/>
              </a:tabLst>
            </a:pPr>
            <a:r>
              <a:rPr lang="es-AR" sz="5400" b="1" dirty="0" smtClean="0">
                <a:solidFill>
                  <a:schemeClr val="bg1"/>
                </a:solidFill>
                <a:latin typeface="Corbel" panose="020B0503020204020204" pitchFamily="34" charset="0"/>
              </a:rPr>
              <a:t>Preguntas?</a:t>
            </a:r>
            <a:endParaRPr lang="es-AR" sz="5400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135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NaSa 2024">
      <a:dk1>
        <a:sysClr val="windowText" lastClr="000000"/>
      </a:dk1>
      <a:lt1>
        <a:sysClr val="window" lastClr="FFFFFF"/>
      </a:lt1>
      <a:dk2>
        <a:srgbClr val="565656"/>
      </a:dk2>
      <a:lt2>
        <a:srgbClr val="E7E6E6"/>
      </a:lt2>
      <a:accent1>
        <a:srgbClr val="9D83BF"/>
      </a:accent1>
      <a:accent2>
        <a:srgbClr val="FA5716"/>
      </a:accent2>
      <a:accent3>
        <a:srgbClr val="D8D8D8"/>
      </a:accent3>
      <a:accent4>
        <a:srgbClr val="9D83BF"/>
      </a:accent4>
      <a:accent5>
        <a:srgbClr val="9D83BF"/>
      </a:accent5>
      <a:accent6>
        <a:srgbClr val="FA5716"/>
      </a:accent6>
      <a:hlink>
        <a:srgbClr val="0563C1"/>
      </a:hlink>
      <a:folHlink>
        <a:srgbClr val="C490AA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aa41bb2-ab67-4bab-bcaa-0501be54dfef">
      <Terms xmlns="http://schemas.microsoft.com/office/infopath/2007/PartnerControls"/>
    </lcf76f155ced4ddcb4097134ff3c332f>
    <TaxCatchAll xmlns="886df372-3d05-48de-b7d6-80316468fce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DFCC35C1F86824B8A8ED7BAF17FDF83" ma:contentTypeVersion="18" ma:contentTypeDescription="Crear nuevo documento." ma:contentTypeScope="" ma:versionID="7ab2cdd2cd55aa024bfb4493b654724f">
  <xsd:schema xmlns:xsd="http://www.w3.org/2001/XMLSchema" xmlns:xs="http://www.w3.org/2001/XMLSchema" xmlns:p="http://schemas.microsoft.com/office/2006/metadata/properties" xmlns:ns2="8aa41bb2-ab67-4bab-bcaa-0501be54dfef" xmlns:ns3="886df372-3d05-48de-b7d6-80316468fce3" targetNamespace="http://schemas.microsoft.com/office/2006/metadata/properties" ma:root="true" ma:fieldsID="b1a4fc9428fb356cf7bc79c3e582e466" ns2:_="" ns3:_="">
    <xsd:import namespace="8aa41bb2-ab67-4bab-bcaa-0501be54dfef"/>
    <xsd:import namespace="886df372-3d05-48de-b7d6-80316468fc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41bb2-ab67-4bab-bcaa-0501be54df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6aabf31-75d2-4c8e-a6a0-e5ccd7d54e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6df372-3d05-48de-b7d6-80316468fce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917ccc-740c-451f-bda1-7450fbd88e3e}" ma:internalName="TaxCatchAll" ma:showField="CatchAllData" ma:web="886df372-3d05-48de-b7d6-80316468fc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00BA05-6A3F-45C5-B68A-8B41A159FED3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8aa41bb2-ab67-4bab-bcaa-0501be54dfef"/>
    <ds:schemaRef ds:uri="http://schemas.openxmlformats.org/package/2006/metadata/core-properties"/>
    <ds:schemaRef ds:uri="886df372-3d05-48de-b7d6-80316468fce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0689C3C-CFD5-47A1-85AE-882FF6509F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37AA55-36EC-43E3-BBB9-2A3C136DC27F}">
  <ds:schemaRefs>
    <ds:schemaRef ds:uri="886df372-3d05-48de-b7d6-80316468fce3"/>
    <ds:schemaRef ds:uri="8aa41bb2-ab67-4bab-bcaa-0501be54dfe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1277</TotalTime>
  <Words>741</Words>
  <Application>Microsoft Office PowerPoint</Application>
  <PresentationFormat>Panorámica</PresentationFormat>
  <Paragraphs>238</Paragraphs>
  <Slides>29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ADLaM Display</vt:lpstr>
      <vt:lpstr>Arial</vt:lpstr>
      <vt:lpstr>Calibri</vt:lpstr>
      <vt:lpstr>Calibri Light</vt:lpstr>
      <vt:lpstr>Corbel</vt:lpstr>
      <vt:lpstr>Open Sans</vt:lpstr>
      <vt:lpstr>Open Sans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Doyle Nicolas</dc:creator>
  <cp:lastModifiedBy>Cuenta Microsoft</cp:lastModifiedBy>
  <cp:revision>41</cp:revision>
  <dcterms:created xsi:type="dcterms:W3CDTF">2020-08-27T15:39:48Z</dcterms:created>
  <dcterms:modified xsi:type="dcterms:W3CDTF">2025-06-16T22:12:33Z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0x010100DDFCC35C1F86824B8A8ED7BAF17FDF83</vt:lpwstr>
  </property>
  <property fmtid="{D5CDD505-2E9C-101B-9397-08002B2CF9AE}" pid="3" name="MediaServiceImageTags">
    <vt:lpwstr/>
  </property>
</Properties>
</file>