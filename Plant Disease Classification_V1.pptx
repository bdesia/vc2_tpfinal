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35"/>
  </p:notesMasterIdLst>
  <p:sldIdLst>
    <p:sldId id="408" r:id="rId5"/>
    <p:sldId id="338" r:id="rId6"/>
    <p:sldId id="460" r:id="rId7"/>
    <p:sldId id="457" r:id="rId8"/>
    <p:sldId id="339" r:id="rId9"/>
    <p:sldId id="442" r:id="rId10"/>
    <p:sldId id="443" r:id="rId11"/>
    <p:sldId id="444" r:id="rId12"/>
    <p:sldId id="446" r:id="rId13"/>
    <p:sldId id="465" r:id="rId14"/>
    <p:sldId id="458" r:id="rId15"/>
    <p:sldId id="454" r:id="rId16"/>
    <p:sldId id="459" r:id="rId17"/>
    <p:sldId id="466" r:id="rId18"/>
    <p:sldId id="467" r:id="rId19"/>
    <p:sldId id="461" r:id="rId20"/>
    <p:sldId id="468" r:id="rId21"/>
    <p:sldId id="469" r:id="rId22"/>
    <p:sldId id="462" r:id="rId23"/>
    <p:sldId id="470" r:id="rId24"/>
    <p:sldId id="471" r:id="rId25"/>
    <p:sldId id="463" r:id="rId26"/>
    <p:sldId id="472" r:id="rId27"/>
    <p:sldId id="464" r:id="rId28"/>
    <p:sldId id="418" r:id="rId29"/>
    <p:sldId id="474" r:id="rId30"/>
    <p:sldId id="452" r:id="rId31"/>
    <p:sldId id="453" r:id="rId32"/>
    <p:sldId id="473" r:id="rId33"/>
    <p:sldId id="441" r:id="rId34"/>
  </p:sldIdLst>
  <p:sldSz cx="12192000" cy="6858000"/>
  <p:notesSz cx="6858000" cy="9144000"/>
  <p:defaultTextStyle>
    <a:defPPr>
      <a:defRPr lang="es-A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C5EA6"/>
    <a:srgbClr val="9E84C0"/>
    <a:srgbClr val="464A4D"/>
    <a:srgbClr val="FA5716"/>
    <a:srgbClr val="DED6D3"/>
    <a:srgbClr val="81B868"/>
    <a:srgbClr val="9D83BF"/>
    <a:srgbClr val="000000"/>
    <a:srgbClr val="EE3D8F"/>
    <a:srgbClr val="37BB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E4C104B-9B8B-EF1C-FA00-0B1A34F264B5}" v="63" dt="2024-11-20T13:10:18.34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Estilo medio 1 - Énfasis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69CF1AB2-1976-4502-BF36-3FF5EA218861}" styleName="Estilo medio 4 - Énfasis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4" d="100"/>
          <a:sy n="84" d="100"/>
        </p:scale>
        <p:origin x="59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tableStyles" Target="tableStyles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presProps" Target="presProps.xml"/><Relationship Id="rId57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7D204D-610F-4D8F-9FBE-A931FCF6D264}" type="datetimeFigureOut">
              <a:rPr lang="en-GB" smtClean="0"/>
              <a:t>16/06/2025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50B49B-73DD-4004-8A6A-1102F2BA1FA3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41948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350B49B-73DD-4004-8A6A-1102F2BA1FA3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77916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350B49B-73DD-4004-8A6A-1102F2BA1FA3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694479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AR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17DB7-1663-43AF-B03F-625E44BB9B6E}" type="datetimeFigureOut">
              <a:rPr lang="es-AR" smtClean="0"/>
              <a:t>16/6/2025</a:t>
            </a:fld>
            <a:endParaRPr lang="es-AR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7BF74-FC18-47A3-B0D5-9786575A90D9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5235513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17DB7-1663-43AF-B03F-625E44BB9B6E}" type="datetimeFigureOut">
              <a:rPr lang="es-AR" smtClean="0"/>
              <a:t>16/6/2025</a:t>
            </a:fld>
            <a:endParaRPr lang="es-AR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7BF74-FC18-47A3-B0D5-9786575A90D9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5744401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17DB7-1663-43AF-B03F-625E44BB9B6E}" type="datetimeFigureOut">
              <a:rPr lang="es-AR" smtClean="0"/>
              <a:t>16/6/2025</a:t>
            </a:fld>
            <a:endParaRPr lang="es-AR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7BF74-FC18-47A3-B0D5-9786575A90D9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7892753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17DB7-1663-43AF-B03F-625E44BB9B6E}" type="datetimeFigureOut">
              <a:rPr lang="es-AR" smtClean="0"/>
              <a:t>16/6/2025</a:t>
            </a:fld>
            <a:endParaRPr lang="es-AR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7BF74-FC18-47A3-B0D5-9786575A90D9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41056139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17DB7-1663-43AF-B03F-625E44BB9B6E}" type="datetimeFigureOut">
              <a:rPr lang="es-AR" smtClean="0"/>
              <a:t>16/6/2025</a:t>
            </a:fld>
            <a:endParaRPr lang="es-AR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7BF74-FC18-47A3-B0D5-9786575A90D9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9444605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17DB7-1663-43AF-B03F-625E44BB9B6E}" type="datetimeFigureOut">
              <a:rPr lang="es-AR" smtClean="0"/>
              <a:t>16/6/2025</a:t>
            </a:fld>
            <a:endParaRPr lang="es-AR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7BF74-FC18-47A3-B0D5-9786575A90D9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8840149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17DB7-1663-43AF-B03F-625E44BB9B6E}" type="datetimeFigureOut">
              <a:rPr lang="es-AR" smtClean="0"/>
              <a:t>16/6/2025</a:t>
            </a:fld>
            <a:endParaRPr lang="es-AR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7BF74-FC18-47A3-B0D5-9786575A90D9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1536278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17DB7-1663-43AF-B03F-625E44BB9B6E}" type="datetimeFigureOut">
              <a:rPr lang="es-AR" smtClean="0"/>
              <a:t>16/6/2025</a:t>
            </a:fld>
            <a:endParaRPr lang="es-AR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7BF74-FC18-47A3-B0D5-9786575A90D9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1208626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AR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17DB7-1663-43AF-B03F-625E44BB9B6E}" type="datetimeFigureOut">
              <a:rPr lang="es-AR" smtClean="0"/>
              <a:t>16/6/2025</a:t>
            </a:fld>
            <a:endParaRPr lang="es-AR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7BF74-FC18-47A3-B0D5-9786575A90D9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2579622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17DB7-1663-43AF-B03F-625E44BB9B6E}" type="datetimeFigureOut">
              <a:rPr lang="es-AR" smtClean="0"/>
              <a:t>16/6/2025</a:t>
            </a:fld>
            <a:endParaRPr lang="es-AR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7BF74-FC18-47A3-B0D5-9786575A90D9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76365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17DB7-1663-43AF-B03F-625E44BB9B6E}" type="datetimeFigureOut">
              <a:rPr lang="es-AR" smtClean="0"/>
              <a:t>16/6/2025</a:t>
            </a:fld>
            <a:endParaRPr lang="es-AR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7BF74-FC18-47A3-B0D5-9786575A90D9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6185701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417DB7-1663-43AF-B03F-625E44BB9B6E}" type="datetimeFigureOut">
              <a:rPr lang="es-AR" smtClean="0"/>
              <a:t>16/6/2025</a:t>
            </a:fld>
            <a:endParaRPr lang="es-AR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AR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47BF74-FC18-47A3-B0D5-9786575A90D9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9927943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A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CuadroTexto 15"/>
          <p:cNvSpPr txBox="1"/>
          <p:nvPr/>
        </p:nvSpPr>
        <p:spPr>
          <a:xfrm>
            <a:off x="1092182" y="1914359"/>
            <a:ext cx="10694596" cy="83099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defRPr/>
            </a:pPr>
            <a:r>
              <a:rPr lang="es-AR" sz="4800" b="1" dirty="0" smtClean="0">
                <a:solidFill>
                  <a:schemeClr val="bg1"/>
                </a:solidFill>
                <a:latin typeface="Corbel"/>
                <a:ea typeface="ADLaM Display"/>
                <a:cs typeface="ADLaM Display"/>
              </a:rPr>
              <a:t>PLANT DISEASE CLASSIFICATION</a:t>
            </a:r>
            <a:endParaRPr lang="es-AR" sz="4800" b="1" dirty="0">
              <a:solidFill>
                <a:schemeClr val="bg1"/>
              </a:solidFill>
              <a:latin typeface="Corbel"/>
              <a:ea typeface="ADLaM Display"/>
              <a:cs typeface="ADLaM Display"/>
            </a:endParaRPr>
          </a:p>
        </p:txBody>
      </p:sp>
      <p:sp>
        <p:nvSpPr>
          <p:cNvPr id="17" name="CuadroTexto 16"/>
          <p:cNvSpPr txBox="1"/>
          <p:nvPr/>
        </p:nvSpPr>
        <p:spPr>
          <a:xfrm>
            <a:off x="1092182" y="2752066"/>
            <a:ext cx="9825135" cy="43088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defRPr/>
            </a:pPr>
            <a:r>
              <a:rPr lang="es-AR" sz="2200" b="1" noProof="0" dirty="0" smtClean="0">
                <a:solidFill>
                  <a:schemeClr val="bg1"/>
                </a:solidFill>
                <a:ea typeface="ADLaM Display" panose="02010000000000000000" pitchFamily="2" charset="0"/>
                <a:cs typeface="Calibri"/>
              </a:rPr>
              <a:t>TRABAJO PRÁCTICO INTEGRADOR</a:t>
            </a:r>
            <a:endParaRPr lang="es-AR" sz="22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CuadroTexto 6"/>
          <p:cNvSpPr txBox="1"/>
          <p:nvPr/>
        </p:nvSpPr>
        <p:spPr>
          <a:xfrm>
            <a:off x="1092182" y="3189663"/>
            <a:ext cx="801679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kumimoji="0" lang="en-US" sz="1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rbel" panose="020B0503020204020204" pitchFamily="34" charset="0"/>
                <a:ea typeface="+mn-ea"/>
                <a:cs typeface="+mn-cs"/>
              </a:rPr>
              <a:t>VISIÓN</a:t>
            </a:r>
            <a:r>
              <a:rPr kumimoji="0" lang="en-US" sz="1800" b="1" i="0" u="none" strike="noStrike" kern="1200" cap="none" spc="0" normalizeH="0" noProof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rbel" panose="020B0503020204020204" pitchFamily="34" charset="0"/>
                <a:ea typeface="+mn-ea"/>
                <a:cs typeface="+mn-cs"/>
              </a:rPr>
              <a:t> POR COMPUTADORA II</a:t>
            </a:r>
          </a:p>
          <a:p>
            <a:pPr lvl="0">
              <a:defRPr/>
            </a:pPr>
            <a:r>
              <a:rPr lang="en-US" b="1" baseline="0" dirty="0" smtClean="0">
                <a:solidFill>
                  <a:schemeClr val="bg1"/>
                </a:solidFill>
                <a:latin typeface="Corbel" panose="020B0503020204020204" pitchFamily="34" charset="0"/>
              </a:rPr>
              <a:t>CARRERA</a:t>
            </a:r>
            <a:r>
              <a:rPr lang="en-US" b="1" dirty="0" smtClean="0">
                <a:solidFill>
                  <a:schemeClr val="bg1"/>
                </a:solidFill>
                <a:latin typeface="Corbel" panose="020B0503020204020204" pitchFamily="34" charset="0"/>
              </a:rPr>
              <a:t> DE ESPECIALIZACIÓN EN INTELIGENCIA ARTIFICIAL </a:t>
            </a:r>
          </a:p>
          <a:p>
            <a:pPr lvl="0">
              <a:defRPr/>
            </a:pPr>
            <a:r>
              <a:rPr kumimoji="0" lang="en-US" sz="1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rbel" panose="020B0503020204020204" pitchFamily="34" charset="0"/>
                <a:ea typeface="+mn-ea"/>
                <a:cs typeface="+mn-cs"/>
              </a:rPr>
              <a:t>FIUBA</a:t>
            </a:r>
          </a:p>
          <a:p>
            <a:pPr lvl="0">
              <a:defRPr/>
            </a:pPr>
            <a:endParaRPr lang="en-US" b="1" dirty="0">
              <a:solidFill>
                <a:schemeClr val="bg1"/>
              </a:solidFill>
              <a:latin typeface="Corbel" panose="020B0503020204020204" pitchFamily="34" charset="0"/>
            </a:endParaRPr>
          </a:p>
          <a:p>
            <a:pPr lvl="0">
              <a:defRPr/>
            </a:pPr>
            <a:r>
              <a:rPr kumimoji="0" lang="en-US" sz="1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rbel" panose="020B0503020204020204" pitchFamily="34" charset="0"/>
                <a:ea typeface="+mn-ea"/>
                <a:cs typeface="+mn-cs"/>
              </a:rPr>
              <a:t>INTEGRANTES:</a:t>
            </a:r>
          </a:p>
          <a:p>
            <a:pPr marL="285750" lvl="0" indent="-285750">
              <a:buFont typeface="Arial" panose="020B0604020202020204" pitchFamily="34" charset="0"/>
              <a:buChar char="•"/>
              <a:defRPr/>
            </a:pPr>
            <a:r>
              <a:rPr lang="en-US" b="1" dirty="0" smtClean="0">
                <a:solidFill>
                  <a:schemeClr val="bg1"/>
                </a:solidFill>
                <a:latin typeface="Corbel" panose="020B0503020204020204" pitchFamily="34" charset="0"/>
              </a:rPr>
              <a:t>BRAIAN A. DESÍA	N° SIU a1804</a:t>
            </a:r>
          </a:p>
          <a:p>
            <a:pPr marL="285750" lvl="0" indent="-285750">
              <a:buFont typeface="Arial" panose="020B0604020202020204" pitchFamily="34" charset="0"/>
              <a:buChar char="•"/>
              <a:defRPr/>
            </a:pPr>
            <a:r>
              <a:rPr kumimoji="0" lang="en-US" sz="1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rbel" panose="020B0503020204020204" pitchFamily="34" charset="0"/>
                <a:ea typeface="+mn-ea"/>
                <a:cs typeface="+mn-cs"/>
              </a:rPr>
              <a:t>LAUTARO MEDINA	N° SIU a1813</a:t>
            </a:r>
          </a:p>
        </p:txBody>
      </p:sp>
      <p:sp>
        <p:nvSpPr>
          <p:cNvPr id="2" name="Rectángulo 1"/>
          <p:cNvSpPr/>
          <p:nvPr/>
        </p:nvSpPr>
        <p:spPr>
          <a:xfrm>
            <a:off x="9748399" y="6168603"/>
            <a:ext cx="20383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s-AR" b="1" dirty="0">
                <a:solidFill>
                  <a:schemeClr val="bg1"/>
                </a:solidFill>
                <a:latin typeface="Corbel" panose="020B0503020204020204" pitchFamily="34" charset="0"/>
              </a:rPr>
              <a:t>17 de junio de 2025</a:t>
            </a:r>
          </a:p>
        </p:txBody>
      </p:sp>
      <p:pic>
        <p:nvPicPr>
          <p:cNvPr id="6" name="Picture 2" descr="Archivo:Logo de la Universidad de Buenos Aires.jpg ...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91140" y="176784"/>
            <a:ext cx="1395638" cy="13985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435347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="" xmlns:a16="http://schemas.microsoft.com/office/drawing/2014/main" id="{4364E6F4-86A9-8A37-79BA-0798D0F1806A}"/>
              </a:ext>
            </a:extLst>
          </p:cNvPr>
          <p:cNvSpPr txBox="1"/>
          <p:nvPr/>
        </p:nvSpPr>
        <p:spPr>
          <a:xfrm>
            <a:off x="701154" y="903157"/>
            <a:ext cx="49439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tabLst>
                <a:tab pos="5649913" algn="l"/>
              </a:tabLst>
            </a:pPr>
            <a:r>
              <a:rPr lang="es-AR" sz="3600" b="1" dirty="0" err="1" smtClean="0">
                <a:latin typeface="Corbel" panose="020B0503020204020204" pitchFamily="34" charset="0"/>
              </a:rPr>
              <a:t>Plant</a:t>
            </a:r>
            <a:r>
              <a:rPr lang="es-AR" sz="3600" b="1" dirty="0" smtClean="0">
                <a:latin typeface="Corbel" panose="020B0503020204020204" pitchFamily="34" charset="0"/>
              </a:rPr>
              <a:t> </a:t>
            </a:r>
            <a:r>
              <a:rPr lang="es-AR" sz="3600" b="1" dirty="0" err="1" smtClean="0">
                <a:latin typeface="Corbel" panose="020B0503020204020204" pitchFamily="34" charset="0"/>
              </a:rPr>
              <a:t>Disease</a:t>
            </a:r>
            <a:r>
              <a:rPr lang="es-AR" sz="3600" b="1" dirty="0" smtClean="0">
                <a:latin typeface="Corbel" panose="020B0503020204020204" pitchFamily="34" charset="0"/>
              </a:rPr>
              <a:t> </a:t>
            </a:r>
            <a:r>
              <a:rPr lang="es-AR" sz="3600" b="1" dirty="0" err="1" smtClean="0">
                <a:latin typeface="Corbel" panose="020B0503020204020204" pitchFamily="34" charset="0"/>
              </a:rPr>
              <a:t>Detection</a:t>
            </a:r>
            <a:endParaRPr lang="es-AR" sz="3600" b="1" dirty="0">
              <a:latin typeface="Corbel" panose="020B0503020204020204" pitchFamily="34" charset="0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="" xmlns:a16="http://schemas.microsoft.com/office/drawing/2014/main" id="{85D4AFD7-519A-7157-EBA3-610671B61FF9}"/>
              </a:ext>
            </a:extLst>
          </p:cNvPr>
          <p:cNvSpPr txBox="1"/>
          <p:nvPr/>
        </p:nvSpPr>
        <p:spPr>
          <a:xfrm>
            <a:off x="710032" y="492362"/>
            <a:ext cx="277736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000" b="1" dirty="0" smtClean="0">
                <a:solidFill>
                  <a:srgbClr val="2C5EA6"/>
                </a:solidFill>
                <a:latin typeface="Corbel" panose="020B0503020204020204" pitchFamily="34" charset="0"/>
              </a:rPr>
              <a:t>VC II PROYECTO FINAL</a:t>
            </a:r>
            <a:endParaRPr lang="es-ES" sz="2000" b="1" dirty="0">
              <a:solidFill>
                <a:srgbClr val="2C5EA6"/>
              </a:solidFill>
              <a:latin typeface="Corbel" panose="020B0503020204020204" pitchFamily="34" charset="0"/>
            </a:endParaRPr>
          </a:p>
        </p:txBody>
      </p:sp>
      <p:pic>
        <p:nvPicPr>
          <p:cNvPr id="7" name="Imagen 6"/>
          <p:cNvPicPr>
            <a:picLocks noChangeAspect="1"/>
          </p:cNvPicPr>
          <p:nvPr/>
        </p:nvPicPr>
        <p:blipFill rotWithShape="1">
          <a:blip r:embed="rId3"/>
          <a:srcRect l="62307"/>
          <a:stretch/>
        </p:blipFill>
        <p:spPr>
          <a:xfrm>
            <a:off x="7172961" y="42784"/>
            <a:ext cx="5019039" cy="6763482"/>
          </a:xfrm>
          <a:prstGeom prst="rect">
            <a:avLst/>
          </a:prstGeom>
        </p:spPr>
      </p:pic>
      <p:sp>
        <p:nvSpPr>
          <p:cNvPr id="9" name="CuadroTexto 8"/>
          <p:cNvSpPr txBox="1"/>
          <p:nvPr/>
        </p:nvSpPr>
        <p:spPr>
          <a:xfrm>
            <a:off x="701155" y="2246135"/>
            <a:ext cx="6045333" cy="3293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FUENTE: </a:t>
            </a:r>
          </a:p>
          <a:p>
            <a:pPr algn="just"/>
            <a:endParaRPr lang="es-AR" sz="1600" dirty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da-DK" sz="1600" b="1" dirty="0" smtClean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da-DK" sz="1600" b="1" dirty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ES" sz="16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DESCRIPCIÓN: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s-ES" sz="1600" b="1" dirty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</a:endParaRPr>
          </a:p>
          <a:p>
            <a:pPr algn="just"/>
            <a:r>
              <a:rPr lang="en-U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Dataset de </a:t>
            </a:r>
            <a:r>
              <a:rPr lang="en-US" sz="1600" dirty="0" err="1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imágenes</a:t>
            </a:r>
            <a:r>
              <a:rPr lang="en-U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 </a:t>
            </a:r>
            <a:r>
              <a:rPr lang="en-US" sz="1600" dirty="0" err="1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hojas</a:t>
            </a:r>
            <a:r>
              <a:rPr lang="en-U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 de </a:t>
            </a:r>
            <a:r>
              <a:rPr lang="en-US" sz="1600" dirty="0" err="1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diferentes</a:t>
            </a:r>
            <a:r>
              <a:rPr lang="en-U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 </a:t>
            </a:r>
            <a:r>
              <a:rPr lang="en-US" sz="1600" dirty="0" err="1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especies</a:t>
            </a:r>
            <a:r>
              <a:rPr lang="en-U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 de </a:t>
            </a:r>
            <a:r>
              <a:rPr lang="en-US" sz="1600" dirty="0" err="1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plantas</a:t>
            </a:r>
            <a:r>
              <a:rPr lang="en-U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 con </a:t>
            </a:r>
            <a:r>
              <a:rPr lang="en-US" sz="1600" dirty="0" err="1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diferentes</a:t>
            </a:r>
            <a:r>
              <a:rPr lang="en-U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 </a:t>
            </a:r>
            <a:r>
              <a:rPr lang="en-US" sz="1600" dirty="0" err="1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estados</a:t>
            </a:r>
            <a:r>
              <a:rPr lang="en-U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 de </a:t>
            </a:r>
            <a:r>
              <a:rPr lang="en-US" sz="1600" dirty="0" err="1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salud</a:t>
            </a:r>
            <a:r>
              <a:rPr lang="en-U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 (</a:t>
            </a:r>
            <a:r>
              <a:rPr lang="en-US" sz="1600" dirty="0" err="1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sanas</a:t>
            </a:r>
            <a:r>
              <a:rPr lang="en-U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 o con </a:t>
            </a:r>
            <a:r>
              <a:rPr lang="en-US" sz="1600" dirty="0" err="1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alguna</a:t>
            </a:r>
            <a:r>
              <a:rPr lang="en-U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 </a:t>
            </a:r>
            <a:r>
              <a:rPr lang="en-US" sz="1600" dirty="0" err="1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patología</a:t>
            </a:r>
            <a:r>
              <a:rPr lang="en-U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).</a:t>
            </a:r>
          </a:p>
          <a:p>
            <a:pPr algn="just"/>
            <a:endParaRPr lang="en-US" sz="1600" dirty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OBJETIVO GENERAL:</a:t>
            </a:r>
          </a:p>
          <a:p>
            <a:pPr algn="just"/>
            <a:endParaRPr lang="en-US" sz="1600" dirty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</a:endParaRPr>
          </a:p>
          <a:p>
            <a:pPr algn="just"/>
            <a:r>
              <a:rPr lang="en-US" sz="1600" dirty="0" err="1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Implementar</a:t>
            </a:r>
            <a:r>
              <a:rPr lang="en-U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 un </a:t>
            </a:r>
            <a:r>
              <a:rPr lang="en-US" sz="1600" dirty="0" err="1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modelo</a:t>
            </a:r>
            <a:r>
              <a:rPr lang="en-U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 de VC para la </a:t>
            </a:r>
            <a:r>
              <a:rPr lang="en-US" sz="1600" dirty="0" err="1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detección</a:t>
            </a:r>
            <a:r>
              <a:rPr lang="en-U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 de </a:t>
            </a:r>
            <a:r>
              <a:rPr lang="en-US" sz="1600" dirty="0" err="1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plantas</a:t>
            </a:r>
            <a:r>
              <a:rPr 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 </a:t>
            </a:r>
            <a:r>
              <a:rPr lang="en-US" sz="1600" dirty="0" err="1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enfermas</a:t>
            </a:r>
            <a:r>
              <a:rPr lang="en-U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. </a:t>
            </a:r>
            <a:endParaRPr lang="en-US" sz="1600" dirty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</a:endParaRPr>
          </a:p>
          <a:p>
            <a:pPr algn="just"/>
            <a:endParaRPr lang="en-US" sz="1600" dirty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</a:endParaRPr>
          </a:p>
        </p:txBody>
      </p:sp>
      <p:pic>
        <p:nvPicPr>
          <p:cNvPr id="8" name="Imagen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81018" y="2179364"/>
            <a:ext cx="4555968" cy="838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51513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/>
          <p:cNvSpPr txBox="1"/>
          <p:nvPr/>
        </p:nvSpPr>
        <p:spPr>
          <a:xfrm>
            <a:off x="701154" y="1990879"/>
            <a:ext cx="6623376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ES" sz="2000" b="1" dirty="0" smtClean="0">
                <a:solidFill>
                  <a:schemeClr val="bg1">
                    <a:lumMod val="65000"/>
                  </a:schemeClr>
                </a:solidFill>
                <a:latin typeface="Corbel" panose="020B0503020204020204" pitchFamily="34" charset="0"/>
              </a:rPr>
              <a:t>CONTENIDO</a:t>
            </a:r>
          </a:p>
          <a:p>
            <a:pPr algn="just"/>
            <a:endParaRPr lang="es-ES" b="1" dirty="0" smtClean="0">
              <a:solidFill>
                <a:schemeClr val="bg1">
                  <a:lumMod val="65000"/>
                </a:schemeClr>
              </a:solidFill>
              <a:latin typeface="Corbel" panose="020B0503020204020204" pitchFamily="34" charset="0"/>
            </a:endParaRPr>
          </a:p>
          <a:p>
            <a:pPr marL="285750" indent="-285750" algn="just">
              <a:buFontTx/>
              <a:buChar char="-"/>
            </a:pPr>
            <a:r>
              <a:rPr lang="es-ES" b="1" dirty="0" smtClean="0">
                <a:solidFill>
                  <a:schemeClr val="bg1">
                    <a:lumMod val="65000"/>
                  </a:schemeClr>
                </a:solidFill>
                <a:latin typeface="Corbel" panose="020B0503020204020204" pitchFamily="34" charset="0"/>
              </a:rPr>
              <a:t>EXPLORATORY DATA ANALYSIS</a:t>
            </a:r>
          </a:p>
          <a:p>
            <a:pPr marL="285750" indent="-285750" algn="just">
              <a:buFontTx/>
              <a:buChar char="-"/>
            </a:pPr>
            <a:endParaRPr lang="es-ES" b="1" dirty="0" smtClean="0">
              <a:solidFill>
                <a:schemeClr val="bg1">
                  <a:lumMod val="65000"/>
                </a:schemeClr>
              </a:solidFill>
              <a:latin typeface="Corbel" panose="020B0503020204020204" pitchFamily="34" charset="0"/>
            </a:endParaRPr>
          </a:p>
          <a:p>
            <a:pPr marL="285750" indent="-285750" algn="just">
              <a:buFontTx/>
              <a:buChar char="-"/>
            </a:pPr>
            <a:r>
              <a:rPr lang="es-ES" b="1" dirty="0" smtClean="0">
                <a:solidFill>
                  <a:schemeClr val="bg1">
                    <a:lumMod val="65000"/>
                  </a:schemeClr>
                </a:solidFill>
                <a:latin typeface="Corbel" panose="020B0503020204020204" pitchFamily="34" charset="0"/>
              </a:rPr>
              <a:t>MODEL #1: BASELINE SIMPLE CNN</a:t>
            </a:r>
          </a:p>
          <a:p>
            <a:pPr marL="285750" indent="-285750" algn="just">
              <a:buFontTx/>
              <a:buChar char="-"/>
            </a:pPr>
            <a:endParaRPr lang="es-ES" b="1" dirty="0">
              <a:solidFill>
                <a:schemeClr val="bg1">
                  <a:lumMod val="65000"/>
                </a:schemeClr>
              </a:solidFill>
              <a:latin typeface="Corbel" panose="020B0503020204020204" pitchFamily="34" charset="0"/>
            </a:endParaRPr>
          </a:p>
          <a:p>
            <a:pPr marL="285750" indent="-285750" algn="just">
              <a:buFontTx/>
              <a:buChar char="-"/>
            </a:pPr>
            <a:r>
              <a:rPr lang="es-ES" b="1" dirty="0" smtClean="0">
                <a:solidFill>
                  <a:schemeClr val="bg1">
                    <a:lumMod val="65000"/>
                  </a:schemeClr>
                </a:solidFill>
                <a:latin typeface="Corbel" panose="020B0503020204020204" pitchFamily="34" charset="0"/>
              </a:rPr>
              <a:t>MODEL # 2: SIMPLE CNN </a:t>
            </a:r>
            <a:r>
              <a:rPr lang="es-ES" b="1" dirty="0" err="1" smtClean="0">
                <a:solidFill>
                  <a:schemeClr val="bg1">
                    <a:lumMod val="65000"/>
                  </a:schemeClr>
                </a:solidFill>
                <a:latin typeface="Corbel" panose="020B0503020204020204" pitchFamily="34" charset="0"/>
              </a:rPr>
              <a:t>with</a:t>
            </a:r>
            <a:r>
              <a:rPr lang="es-ES" b="1" dirty="0" smtClean="0">
                <a:solidFill>
                  <a:schemeClr val="bg1">
                    <a:lumMod val="65000"/>
                  </a:schemeClr>
                </a:solidFill>
                <a:latin typeface="Corbel" panose="020B0503020204020204" pitchFamily="34" charset="0"/>
              </a:rPr>
              <a:t> </a:t>
            </a:r>
            <a:r>
              <a:rPr lang="es-ES" b="1" dirty="0" err="1" smtClean="0">
                <a:solidFill>
                  <a:schemeClr val="bg1">
                    <a:lumMod val="65000"/>
                  </a:schemeClr>
                </a:solidFill>
                <a:latin typeface="Corbel" panose="020B0503020204020204" pitchFamily="34" charset="0"/>
              </a:rPr>
              <a:t>RandAugmentation</a:t>
            </a:r>
            <a:endParaRPr lang="es-ES" b="1" dirty="0" smtClean="0">
              <a:solidFill>
                <a:schemeClr val="bg1">
                  <a:lumMod val="65000"/>
                </a:schemeClr>
              </a:solidFill>
              <a:latin typeface="Corbel" panose="020B0503020204020204" pitchFamily="34" charset="0"/>
            </a:endParaRPr>
          </a:p>
          <a:p>
            <a:pPr marL="285750" indent="-285750" algn="just">
              <a:buFontTx/>
              <a:buChar char="-"/>
            </a:pPr>
            <a:endParaRPr lang="es-ES" b="1" dirty="0">
              <a:solidFill>
                <a:schemeClr val="bg1">
                  <a:lumMod val="65000"/>
                </a:schemeClr>
              </a:solidFill>
              <a:latin typeface="Corbel" panose="020B0503020204020204" pitchFamily="34" charset="0"/>
            </a:endParaRPr>
          </a:p>
          <a:p>
            <a:pPr marL="285750" indent="-285750" algn="just">
              <a:buFontTx/>
              <a:buChar char="-"/>
            </a:pPr>
            <a:r>
              <a:rPr lang="es-ES" b="1" dirty="0" smtClean="0">
                <a:solidFill>
                  <a:schemeClr val="bg1">
                    <a:lumMod val="65000"/>
                  </a:schemeClr>
                </a:solidFill>
                <a:latin typeface="Corbel" panose="020B0503020204020204" pitchFamily="34" charset="0"/>
              </a:rPr>
              <a:t>MODEL # 3: PRE-TRAINED RESNET18</a:t>
            </a:r>
          </a:p>
          <a:p>
            <a:pPr marL="285750" indent="-285750" algn="just">
              <a:buFontTx/>
              <a:buChar char="-"/>
            </a:pPr>
            <a:endParaRPr lang="es-ES" b="1" dirty="0">
              <a:solidFill>
                <a:schemeClr val="bg1">
                  <a:lumMod val="65000"/>
                </a:schemeClr>
              </a:solidFill>
              <a:latin typeface="Corbel" panose="020B0503020204020204" pitchFamily="34" charset="0"/>
            </a:endParaRPr>
          </a:p>
          <a:p>
            <a:pPr marL="285750" indent="-285750" algn="just">
              <a:buFontTx/>
              <a:buChar char="-"/>
            </a:pPr>
            <a:r>
              <a:rPr lang="es-ES" b="1" dirty="0" smtClean="0">
                <a:solidFill>
                  <a:schemeClr val="bg1">
                    <a:lumMod val="65000"/>
                  </a:schemeClr>
                </a:solidFill>
                <a:latin typeface="Corbel" panose="020B0503020204020204" pitchFamily="34" charset="0"/>
              </a:rPr>
              <a:t>MODEL #4: RESNET18 FROM SCRATCH</a:t>
            </a:r>
          </a:p>
          <a:p>
            <a:pPr marL="285750" indent="-285750" algn="just">
              <a:buFontTx/>
              <a:buChar char="-"/>
            </a:pPr>
            <a:endParaRPr lang="es-ES" b="1" dirty="0">
              <a:solidFill>
                <a:schemeClr val="bg1">
                  <a:lumMod val="65000"/>
                </a:schemeClr>
              </a:solidFill>
              <a:latin typeface="Corbel" panose="020B0503020204020204" pitchFamily="34" charset="0"/>
            </a:endParaRPr>
          </a:p>
          <a:p>
            <a:pPr marL="285750" indent="-285750" algn="just">
              <a:buFontTx/>
              <a:buChar char="-"/>
            </a:pPr>
            <a:r>
              <a:rPr lang="es-ES" b="1" dirty="0" smtClean="0">
                <a:solidFill>
                  <a:schemeClr val="bg1">
                    <a:lumMod val="65000"/>
                  </a:schemeClr>
                </a:solidFill>
                <a:latin typeface="Corbel" panose="020B0503020204020204" pitchFamily="34" charset="0"/>
              </a:rPr>
              <a:t>COMPARACIÓN MODELOS Y EVALUACIÓN DE MÉTRICAS</a:t>
            </a:r>
          </a:p>
          <a:p>
            <a:pPr algn="just"/>
            <a:endParaRPr lang="en-US" sz="1600" dirty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="" xmlns:a16="http://schemas.microsoft.com/office/drawing/2014/main" id="{4364E6F4-86A9-8A37-79BA-0798D0F1806A}"/>
              </a:ext>
            </a:extLst>
          </p:cNvPr>
          <p:cNvSpPr txBox="1"/>
          <p:nvPr/>
        </p:nvSpPr>
        <p:spPr>
          <a:xfrm>
            <a:off x="701154" y="903157"/>
            <a:ext cx="49439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tabLst>
                <a:tab pos="5649913" algn="l"/>
              </a:tabLst>
            </a:pPr>
            <a:r>
              <a:rPr lang="es-AR" sz="3600" b="1" dirty="0" err="1" smtClean="0">
                <a:latin typeface="Corbel" panose="020B0503020204020204" pitchFamily="34" charset="0"/>
              </a:rPr>
              <a:t>Plant</a:t>
            </a:r>
            <a:r>
              <a:rPr lang="es-AR" sz="3600" b="1" dirty="0" smtClean="0">
                <a:latin typeface="Corbel" panose="020B0503020204020204" pitchFamily="34" charset="0"/>
              </a:rPr>
              <a:t> </a:t>
            </a:r>
            <a:r>
              <a:rPr lang="es-AR" sz="3600" b="1" dirty="0" err="1" smtClean="0">
                <a:latin typeface="Corbel" panose="020B0503020204020204" pitchFamily="34" charset="0"/>
              </a:rPr>
              <a:t>Disease</a:t>
            </a:r>
            <a:r>
              <a:rPr lang="es-AR" sz="3600" b="1" dirty="0" smtClean="0">
                <a:latin typeface="Corbel" panose="020B0503020204020204" pitchFamily="34" charset="0"/>
              </a:rPr>
              <a:t> </a:t>
            </a:r>
            <a:r>
              <a:rPr lang="es-AR" sz="3600" b="1" dirty="0" err="1" smtClean="0">
                <a:latin typeface="Corbel" panose="020B0503020204020204" pitchFamily="34" charset="0"/>
              </a:rPr>
              <a:t>Detection</a:t>
            </a:r>
            <a:endParaRPr lang="es-AR" sz="3600" b="1" dirty="0">
              <a:latin typeface="Corbel" panose="020B0503020204020204" pitchFamily="34" charset="0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="" xmlns:a16="http://schemas.microsoft.com/office/drawing/2014/main" id="{85D4AFD7-519A-7157-EBA3-610671B61FF9}"/>
              </a:ext>
            </a:extLst>
          </p:cNvPr>
          <p:cNvSpPr txBox="1"/>
          <p:nvPr/>
        </p:nvSpPr>
        <p:spPr>
          <a:xfrm>
            <a:off x="710032" y="492362"/>
            <a:ext cx="277736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000" b="1" dirty="0" smtClean="0">
                <a:solidFill>
                  <a:srgbClr val="2C5EA6"/>
                </a:solidFill>
                <a:latin typeface="Corbel" panose="020B0503020204020204" pitchFamily="34" charset="0"/>
              </a:rPr>
              <a:t>VC II PROYECTO FINAL</a:t>
            </a:r>
            <a:endParaRPr lang="es-ES" sz="2000" b="1" dirty="0">
              <a:solidFill>
                <a:srgbClr val="2C5EA6"/>
              </a:solidFill>
              <a:latin typeface="Corbel" panose="020B0503020204020204" pitchFamily="34" charset="0"/>
            </a:endParaRPr>
          </a:p>
        </p:txBody>
      </p:sp>
      <p:pic>
        <p:nvPicPr>
          <p:cNvPr id="7" name="Imagen 6"/>
          <p:cNvPicPr>
            <a:picLocks noChangeAspect="1"/>
          </p:cNvPicPr>
          <p:nvPr/>
        </p:nvPicPr>
        <p:blipFill rotWithShape="1">
          <a:blip r:embed="rId3"/>
          <a:srcRect l="25239" r="37434"/>
          <a:stretch/>
        </p:blipFill>
        <p:spPr>
          <a:xfrm>
            <a:off x="7060790" y="0"/>
            <a:ext cx="503977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44902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CuadroTexto 15"/>
          <p:cNvSpPr txBox="1"/>
          <p:nvPr/>
        </p:nvSpPr>
        <p:spPr>
          <a:xfrm>
            <a:off x="1289954" y="4274802"/>
            <a:ext cx="8999033" cy="7260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4900"/>
              </a:lnSpc>
              <a:defRPr/>
            </a:pPr>
            <a:r>
              <a:rPr lang="es-ES" sz="4400" b="1" dirty="0" smtClean="0">
                <a:latin typeface="Corbel" panose="020B0503020204020204" pitchFamily="34" charset="0"/>
              </a:rPr>
              <a:t>EXPLORATORY DATA ANALYSIS</a:t>
            </a:r>
            <a:endParaRPr lang="es-AR" sz="4000" b="1" dirty="0">
              <a:latin typeface="Corbel" panose="020B05030202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74039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/>
          <p:cNvSpPr txBox="1"/>
          <p:nvPr/>
        </p:nvSpPr>
        <p:spPr>
          <a:xfrm>
            <a:off x="701155" y="2246135"/>
            <a:ext cx="6045333" cy="2092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b="1" dirty="0" smtClean="0">
                <a:solidFill>
                  <a:schemeClr val="bg1">
                    <a:lumMod val="65000"/>
                  </a:schemeClr>
                </a:solidFill>
                <a:latin typeface="Corbel" panose="020B0503020204020204" pitchFamily="34" charset="0"/>
              </a:rPr>
              <a:t>3 VERSIONES:</a:t>
            </a:r>
            <a:endParaRPr lang="en-US" b="1" dirty="0">
              <a:solidFill>
                <a:schemeClr val="bg1">
                  <a:lumMod val="65000"/>
                </a:schemeClr>
              </a:solidFill>
              <a:latin typeface="Corbel" panose="020B0503020204020204" pitchFamily="34" charset="0"/>
            </a:endParaRPr>
          </a:p>
          <a:p>
            <a:pPr algn="just"/>
            <a:endParaRPr lang="es-AR" sz="1600" dirty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da-DK" sz="16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COLOR</a:t>
            </a:r>
            <a:r>
              <a:rPr lang="da-DK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: imágenes originales RGB.</a:t>
            </a:r>
            <a:endParaRPr lang="da-DK" sz="1600" dirty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16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GRAYSCALE</a:t>
            </a:r>
            <a:r>
              <a:rPr lang="en-U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: </a:t>
            </a:r>
            <a:r>
              <a:rPr lang="en-US" sz="1600" dirty="0" err="1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imágenes</a:t>
            </a:r>
            <a:r>
              <a:rPr lang="en-U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 en </a:t>
            </a:r>
            <a:r>
              <a:rPr lang="en-US" sz="1600" dirty="0" err="1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escala</a:t>
            </a:r>
            <a:r>
              <a:rPr lang="en-U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 de </a:t>
            </a:r>
            <a:r>
              <a:rPr lang="en-US" sz="1600" dirty="0" err="1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grises</a:t>
            </a:r>
            <a:r>
              <a:rPr lang="en-U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.</a:t>
            </a:r>
            <a:endParaRPr lang="en-US" sz="1600" dirty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16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SEGMENTED</a:t>
            </a:r>
            <a:r>
              <a:rPr lang="en-U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: </a:t>
            </a:r>
            <a:r>
              <a:rPr lang="en-US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imágenes</a:t>
            </a:r>
            <a:r>
              <a:rPr 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 </a:t>
            </a:r>
            <a:r>
              <a:rPr lang="en-U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con </a:t>
            </a:r>
            <a:r>
              <a:rPr lang="en-US" sz="1600" dirty="0" err="1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hojas</a:t>
            </a:r>
            <a:r>
              <a:rPr lang="en-U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 </a:t>
            </a:r>
            <a:r>
              <a:rPr lang="en-US" sz="1600" dirty="0" err="1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segmentadas</a:t>
            </a:r>
            <a:r>
              <a:rPr lang="en-U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 en </a:t>
            </a:r>
            <a:r>
              <a:rPr lang="en-US" sz="1600" dirty="0" err="1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fondo</a:t>
            </a:r>
            <a:r>
              <a:rPr lang="en-U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 negro.</a:t>
            </a:r>
            <a:endParaRPr lang="en-US" sz="1600" dirty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</a:endParaRPr>
          </a:p>
          <a:p>
            <a:pPr algn="just"/>
            <a:endParaRPr lang="en-US" sz="1600" dirty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</a:endParaRPr>
          </a:p>
        </p:txBody>
      </p:sp>
      <p:sp>
        <p:nvSpPr>
          <p:cNvPr id="6" name="CuadroTexto 5"/>
          <p:cNvSpPr txBox="1"/>
          <p:nvPr/>
        </p:nvSpPr>
        <p:spPr>
          <a:xfrm>
            <a:off x="710032" y="1636201"/>
            <a:ext cx="493544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5649913" algn="l"/>
              </a:tabLst>
            </a:pPr>
            <a:r>
              <a:rPr lang="es-AR" sz="2800" b="1" dirty="0" smtClean="0">
                <a:solidFill>
                  <a:srgbClr val="2C5EA6"/>
                </a:solidFill>
                <a:latin typeface="Corbel" panose="020B0503020204020204" pitchFamily="34" charset="0"/>
              </a:rPr>
              <a:t>COMPOSICIÓN</a:t>
            </a:r>
            <a:endParaRPr lang="es-AR" sz="2800" b="1" dirty="0">
              <a:solidFill>
                <a:srgbClr val="2C5EA6"/>
              </a:solidFill>
              <a:latin typeface="Corbel" panose="020B0503020204020204" pitchFamily="34" charset="0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="" xmlns:a16="http://schemas.microsoft.com/office/drawing/2014/main" id="{7C77E145-A92F-6502-A931-286B34CA2310}"/>
              </a:ext>
            </a:extLst>
          </p:cNvPr>
          <p:cNvSpPr txBox="1"/>
          <p:nvPr/>
        </p:nvSpPr>
        <p:spPr>
          <a:xfrm>
            <a:off x="701154" y="903157"/>
            <a:ext cx="21131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tabLst>
                <a:tab pos="5649913" algn="l"/>
              </a:tabLst>
            </a:pPr>
            <a:r>
              <a:rPr lang="es-AR" sz="3600" b="1" dirty="0" smtClean="0">
                <a:latin typeface="Corbel" panose="020B0503020204020204" pitchFamily="34" charset="0"/>
              </a:rPr>
              <a:t>DATASET</a:t>
            </a:r>
            <a:endParaRPr lang="es-AR" sz="3600" b="1" dirty="0">
              <a:latin typeface="Corbel" panose="020B0503020204020204" pitchFamily="34" charset="0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="" xmlns:a16="http://schemas.microsoft.com/office/drawing/2014/main" id="{0DD0B780-378A-4F19-22BA-3C4E5A3E4BB9}"/>
              </a:ext>
            </a:extLst>
          </p:cNvPr>
          <p:cNvSpPr txBox="1"/>
          <p:nvPr/>
        </p:nvSpPr>
        <p:spPr>
          <a:xfrm>
            <a:off x="710032" y="492362"/>
            <a:ext cx="38105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000" b="1" dirty="0" smtClean="0">
                <a:solidFill>
                  <a:srgbClr val="2C5EA6"/>
                </a:solidFill>
                <a:latin typeface="Corbel" panose="020B0503020204020204" pitchFamily="34" charset="0"/>
              </a:rPr>
              <a:t>EXPLORATORY DATA ANALYSIS</a:t>
            </a:r>
            <a:endParaRPr lang="es-ES" sz="2000" b="1" dirty="0">
              <a:solidFill>
                <a:srgbClr val="2C5EA6"/>
              </a:solidFill>
              <a:latin typeface="Corbel" panose="020B0503020204020204" pitchFamily="34" charset="0"/>
            </a:endParaRPr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5274" y="338019"/>
            <a:ext cx="6623257" cy="2422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23117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/>
          <p:cNvSpPr txBox="1"/>
          <p:nvPr/>
        </p:nvSpPr>
        <p:spPr>
          <a:xfrm>
            <a:off x="701154" y="2615715"/>
            <a:ext cx="4839566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E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Imágenes de 256x256 </a:t>
            </a:r>
            <a:r>
              <a:rPr lang="es-E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de tamaño, con excepción de unos pocos </a:t>
            </a:r>
            <a:r>
              <a:rPr lang="es-ES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outliers</a:t>
            </a:r>
            <a:r>
              <a:rPr lang="es-E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s-ES" sz="1600" dirty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E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La </a:t>
            </a:r>
            <a:r>
              <a:rPr lang="es-E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relación de aspecto es </a:t>
            </a:r>
            <a:r>
              <a:rPr lang="es-E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1, salvo </a:t>
            </a:r>
            <a:r>
              <a:rPr lang="es-ES" sz="1600" dirty="0" err="1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outliers</a:t>
            </a:r>
            <a:r>
              <a:rPr lang="es-E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s-ES" sz="1600" dirty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E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Para </a:t>
            </a:r>
            <a:r>
              <a:rPr lang="es-E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el procesamiento, aplicaremos un </a:t>
            </a:r>
            <a:r>
              <a:rPr lang="es-ES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transform</a:t>
            </a:r>
            <a:r>
              <a:rPr lang="es-E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 para igualar el tamaño de todas las imágenes o podríamos directamente eliminar los </a:t>
            </a:r>
            <a:r>
              <a:rPr lang="es-ES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outliers</a:t>
            </a:r>
            <a:r>
              <a:rPr lang="es-E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 sin mayor </a:t>
            </a:r>
            <a:r>
              <a:rPr lang="es-E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perjuicio.</a:t>
            </a:r>
            <a:endParaRPr lang="en-US" sz="1600" dirty="0" smtClean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</a:endParaRPr>
          </a:p>
        </p:txBody>
      </p:sp>
      <p:sp>
        <p:nvSpPr>
          <p:cNvPr id="6" name="CuadroTexto 5"/>
          <p:cNvSpPr txBox="1"/>
          <p:nvPr/>
        </p:nvSpPr>
        <p:spPr>
          <a:xfrm>
            <a:off x="710032" y="1636201"/>
            <a:ext cx="493544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5649913" algn="l"/>
              </a:tabLst>
            </a:pPr>
            <a:r>
              <a:rPr lang="es-AR" sz="2800" b="1" dirty="0" smtClean="0">
                <a:solidFill>
                  <a:srgbClr val="2C5EA6"/>
                </a:solidFill>
                <a:latin typeface="Corbel" panose="020B0503020204020204" pitchFamily="34" charset="0"/>
              </a:rPr>
              <a:t>ANCHO/ALTURA IMÁGENES</a:t>
            </a:r>
            <a:endParaRPr lang="es-AR" sz="2800" b="1" dirty="0">
              <a:solidFill>
                <a:srgbClr val="2C5EA6"/>
              </a:solidFill>
              <a:latin typeface="Corbel" panose="020B0503020204020204" pitchFamily="34" charset="0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="" xmlns:a16="http://schemas.microsoft.com/office/drawing/2014/main" id="{7C77E145-A92F-6502-A931-286B34CA2310}"/>
              </a:ext>
            </a:extLst>
          </p:cNvPr>
          <p:cNvSpPr txBox="1"/>
          <p:nvPr/>
        </p:nvSpPr>
        <p:spPr>
          <a:xfrm>
            <a:off x="701154" y="903157"/>
            <a:ext cx="21131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tabLst>
                <a:tab pos="5649913" algn="l"/>
              </a:tabLst>
            </a:pPr>
            <a:r>
              <a:rPr lang="es-AR" sz="3600" b="1" dirty="0" smtClean="0">
                <a:latin typeface="Corbel" panose="020B0503020204020204" pitchFamily="34" charset="0"/>
              </a:rPr>
              <a:t>DATASET</a:t>
            </a:r>
            <a:endParaRPr lang="es-AR" sz="3600" b="1" dirty="0">
              <a:latin typeface="Corbel" panose="020B0503020204020204" pitchFamily="34" charset="0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="" xmlns:a16="http://schemas.microsoft.com/office/drawing/2014/main" id="{0DD0B780-378A-4F19-22BA-3C4E5A3E4BB9}"/>
              </a:ext>
            </a:extLst>
          </p:cNvPr>
          <p:cNvSpPr txBox="1"/>
          <p:nvPr/>
        </p:nvSpPr>
        <p:spPr>
          <a:xfrm>
            <a:off x="710032" y="492362"/>
            <a:ext cx="67518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000" b="1" dirty="0" smtClean="0">
                <a:solidFill>
                  <a:srgbClr val="2C5EA6"/>
                </a:solidFill>
                <a:latin typeface="Corbel" panose="020B0503020204020204" pitchFamily="34" charset="0"/>
              </a:rPr>
              <a:t>EDA</a:t>
            </a:r>
            <a:endParaRPr lang="es-ES" sz="2000" b="1" dirty="0">
              <a:solidFill>
                <a:srgbClr val="2C5EA6"/>
              </a:solidFill>
              <a:latin typeface="Corbel" panose="020B0503020204020204" pitchFamily="34" charset="0"/>
            </a:endParaRPr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0722" y="569974"/>
            <a:ext cx="6444078" cy="2655676"/>
          </a:xfrm>
          <a:prstGeom prst="rect">
            <a:avLst/>
          </a:prstGeom>
        </p:spPr>
      </p:pic>
      <p:pic>
        <p:nvPicPr>
          <p:cNvPr id="8" name="Imagen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7078" y="3515254"/>
            <a:ext cx="3825655" cy="2909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51039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/>
          <p:cNvSpPr txBox="1"/>
          <p:nvPr/>
        </p:nvSpPr>
        <p:spPr>
          <a:xfrm>
            <a:off x="710032" y="2326004"/>
            <a:ext cx="5908051" cy="4278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E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38 CLASES</a:t>
            </a:r>
            <a:endParaRPr lang="es-ES" sz="1600" dirty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s-ES" sz="1600" dirty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E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Codificación {PLANTA</a:t>
            </a:r>
            <a:r>
              <a:rPr lang="es-E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} + ___ + {CONDICIÓN</a:t>
            </a:r>
            <a:r>
              <a:rPr lang="es-E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}.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s-ES" sz="1600" dirty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</a:endParaRPr>
          </a:p>
          <a:p>
            <a:pPr algn="just"/>
            <a:r>
              <a:rPr lang="en-US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P.ej</a:t>
            </a:r>
            <a:r>
              <a:rPr 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.:	</a:t>
            </a:r>
            <a:r>
              <a:rPr lang="es-E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Apple___</a:t>
            </a:r>
            <a:r>
              <a:rPr lang="es-ES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healthy</a:t>
            </a:r>
            <a:r>
              <a:rPr lang="es-E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	→ 	Especie “APPLE”</a:t>
            </a:r>
          </a:p>
          <a:p>
            <a:pPr algn="just"/>
            <a:r>
              <a:rPr lang="es-E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				Condición “</a:t>
            </a:r>
            <a:r>
              <a:rPr lang="es-ES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Healthy</a:t>
            </a:r>
            <a:r>
              <a:rPr lang="es-E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”</a:t>
            </a:r>
          </a:p>
          <a:p>
            <a:pPr algn="just"/>
            <a:endParaRPr lang="es-ES" sz="1600" dirty="0" smtClean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  <a:cs typeface="Calibri" panose="020F0502020204030204" pitchFamily="34" charset="0"/>
            </a:endParaRPr>
          </a:p>
          <a:p>
            <a:pPr algn="just"/>
            <a:endParaRPr lang="es-ES" sz="1600" dirty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  <a:cs typeface="Calibri" panose="020F0502020204030204" pitchFamily="34" charset="0"/>
            </a:endParaRPr>
          </a:p>
          <a:p>
            <a:pPr algn="just"/>
            <a:endParaRPr lang="es-ES" sz="1600" dirty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  <a:cs typeface="Calibri" panose="020F0502020204030204" pitchFamily="34" charset="0"/>
            </a:endParaRPr>
          </a:p>
          <a:p>
            <a:pPr algn="just"/>
            <a:r>
              <a:rPr 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	</a:t>
            </a:r>
            <a:r>
              <a:rPr lang="es-E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Apple</a:t>
            </a:r>
            <a:r>
              <a:rPr lang="es-E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___</a:t>
            </a:r>
            <a:r>
              <a:rPr lang="es-ES" sz="1600" dirty="0" err="1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Black_root</a:t>
            </a:r>
            <a:r>
              <a:rPr lang="es-E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	→ 	Especie “APPLE”</a:t>
            </a:r>
          </a:p>
          <a:p>
            <a:pPr algn="just"/>
            <a:r>
              <a:rPr lang="es-E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				</a:t>
            </a:r>
            <a:r>
              <a:rPr lang="es-E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Condición “</a:t>
            </a:r>
            <a:r>
              <a:rPr lang="es-ES" sz="1600" dirty="0" err="1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Black_root</a:t>
            </a:r>
            <a:r>
              <a:rPr lang="es-E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”</a:t>
            </a:r>
          </a:p>
          <a:p>
            <a:pPr algn="just"/>
            <a:endParaRPr lang="es-ES" sz="1600" dirty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  <a:cs typeface="Calibri" panose="020F0502020204030204" pitchFamily="34" charset="0"/>
            </a:endParaRPr>
          </a:p>
          <a:p>
            <a:pPr algn="just"/>
            <a:r>
              <a:rPr lang="es-E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	</a:t>
            </a:r>
            <a:endParaRPr lang="en-US" sz="1600" dirty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s-ES" sz="1600" dirty="0" smtClean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E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Desbalance de clases.</a:t>
            </a:r>
            <a:endParaRPr lang="es-ES" sz="1600" dirty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</a:endParaRPr>
          </a:p>
          <a:p>
            <a:pPr algn="just"/>
            <a:r>
              <a:rPr lang="es-E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	</a:t>
            </a:r>
            <a:endParaRPr lang="en-US" sz="1600" dirty="0" smtClean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</a:endParaRPr>
          </a:p>
        </p:txBody>
      </p:sp>
      <p:sp>
        <p:nvSpPr>
          <p:cNvPr id="6" name="CuadroTexto 5"/>
          <p:cNvSpPr txBox="1"/>
          <p:nvPr/>
        </p:nvSpPr>
        <p:spPr>
          <a:xfrm>
            <a:off x="710032" y="1636201"/>
            <a:ext cx="493544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5649913" algn="l"/>
              </a:tabLst>
            </a:pPr>
            <a:r>
              <a:rPr lang="es-AR" sz="2800" b="1" dirty="0" smtClean="0">
                <a:solidFill>
                  <a:srgbClr val="2C5EA6"/>
                </a:solidFill>
                <a:latin typeface="Corbel" panose="020B0503020204020204" pitchFamily="34" charset="0"/>
              </a:rPr>
              <a:t>LABELS</a:t>
            </a:r>
            <a:endParaRPr lang="es-AR" sz="2800" b="1" dirty="0">
              <a:solidFill>
                <a:srgbClr val="2C5EA6"/>
              </a:solidFill>
              <a:latin typeface="Corbel" panose="020B0503020204020204" pitchFamily="34" charset="0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="" xmlns:a16="http://schemas.microsoft.com/office/drawing/2014/main" id="{7C77E145-A92F-6502-A931-286B34CA2310}"/>
              </a:ext>
            </a:extLst>
          </p:cNvPr>
          <p:cNvSpPr txBox="1"/>
          <p:nvPr/>
        </p:nvSpPr>
        <p:spPr>
          <a:xfrm>
            <a:off x="701154" y="903157"/>
            <a:ext cx="21131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tabLst>
                <a:tab pos="5649913" algn="l"/>
              </a:tabLst>
            </a:pPr>
            <a:r>
              <a:rPr lang="es-AR" sz="3600" b="1" dirty="0" smtClean="0">
                <a:latin typeface="Corbel" panose="020B0503020204020204" pitchFamily="34" charset="0"/>
              </a:rPr>
              <a:t>DATASET</a:t>
            </a:r>
            <a:endParaRPr lang="es-AR" sz="3600" b="1" dirty="0">
              <a:latin typeface="Corbel" panose="020B0503020204020204" pitchFamily="34" charset="0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="" xmlns:a16="http://schemas.microsoft.com/office/drawing/2014/main" id="{0DD0B780-378A-4F19-22BA-3C4E5A3E4BB9}"/>
              </a:ext>
            </a:extLst>
          </p:cNvPr>
          <p:cNvSpPr txBox="1"/>
          <p:nvPr/>
        </p:nvSpPr>
        <p:spPr>
          <a:xfrm>
            <a:off x="710032" y="492362"/>
            <a:ext cx="67518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000" b="1" dirty="0" smtClean="0">
                <a:solidFill>
                  <a:srgbClr val="2C5EA6"/>
                </a:solidFill>
                <a:latin typeface="Corbel" panose="020B0503020204020204" pitchFamily="34" charset="0"/>
              </a:rPr>
              <a:t>EDA</a:t>
            </a:r>
            <a:endParaRPr lang="es-ES" sz="2000" b="1" dirty="0">
              <a:solidFill>
                <a:srgbClr val="2C5EA6"/>
              </a:solidFill>
              <a:latin typeface="Corbel" panose="020B0503020204020204" pitchFamily="34" charset="0"/>
            </a:endParaRPr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0196" y="492362"/>
            <a:ext cx="5624513" cy="5624513"/>
          </a:xfrm>
          <a:prstGeom prst="rect">
            <a:avLst/>
          </a:prstGeom>
        </p:spPr>
      </p:pic>
      <p:pic>
        <p:nvPicPr>
          <p:cNvPr id="7" name="Imagen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3036" y="5199148"/>
            <a:ext cx="5128519" cy="511984"/>
          </a:xfrm>
          <a:prstGeom prst="rect">
            <a:avLst/>
          </a:prstGeom>
        </p:spPr>
      </p:pic>
      <p:pic>
        <p:nvPicPr>
          <p:cNvPr id="9" name="Imagen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1929" y="4004199"/>
            <a:ext cx="5139626" cy="513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43474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/>
          <p:cNvSpPr txBox="1"/>
          <p:nvPr/>
        </p:nvSpPr>
        <p:spPr>
          <a:xfrm>
            <a:off x="710032" y="2326004"/>
            <a:ext cx="5908051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E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Condición </a:t>
            </a:r>
            <a:r>
              <a:rPr lang="es-E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"</a:t>
            </a:r>
            <a:r>
              <a:rPr lang="es-ES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Healthy</a:t>
            </a:r>
            <a:r>
              <a:rPr lang="es-E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", </a:t>
            </a:r>
            <a:r>
              <a:rPr lang="es-E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predomina </a:t>
            </a:r>
            <a:r>
              <a:rPr lang="es-E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enteramente el color </a:t>
            </a:r>
            <a:r>
              <a:rPr lang="es-E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verde, </a:t>
            </a:r>
            <a:r>
              <a:rPr lang="es-E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mientras que en los casos con enfermedad, se observan manchas o diferentes tonalidades (p.ej., </a:t>
            </a:r>
            <a:r>
              <a:rPr lang="es-E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amarillo).</a:t>
            </a:r>
          </a:p>
          <a:p>
            <a:pPr algn="just"/>
            <a:endParaRPr lang="es-ES" sz="1600" dirty="0" smtClean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</a:endParaRPr>
          </a:p>
          <a:p>
            <a:pPr algn="just"/>
            <a:r>
              <a:rPr lang="es-E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	</a:t>
            </a:r>
            <a:r>
              <a:rPr lang="es-ES" sz="16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es-E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s-E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Considerar </a:t>
            </a:r>
            <a:r>
              <a:rPr lang="es-E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la imagen a color puede ser relevante para </a:t>
            </a:r>
            <a:r>
              <a:rPr lang="es-E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	</a:t>
            </a:r>
            <a:r>
              <a:rPr lang="es-ES" sz="1600" dirty="0" err="1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disernir</a:t>
            </a:r>
            <a:r>
              <a:rPr lang="es-E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 </a:t>
            </a:r>
            <a:r>
              <a:rPr lang="es-E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el estado.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s-ES" sz="1600" dirty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E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Plantas enfermas presentan "huecos</a:t>
            </a:r>
            <a:r>
              <a:rPr lang="es-E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". Alguna técnica de segmentación de bordes (p.ej., </a:t>
            </a:r>
            <a:r>
              <a:rPr lang="es-ES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Canny</a:t>
            </a:r>
            <a:r>
              <a:rPr lang="es-E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) podría usarse para facilitar la </a:t>
            </a:r>
            <a:r>
              <a:rPr lang="es-E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clasificación</a:t>
            </a:r>
            <a:r>
              <a:rPr lang="es-E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 </a:t>
            </a:r>
            <a:r>
              <a:rPr lang="es-E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como pre-procesamiento.</a:t>
            </a:r>
          </a:p>
        </p:txBody>
      </p:sp>
      <p:sp>
        <p:nvSpPr>
          <p:cNvPr id="6" name="CuadroTexto 5"/>
          <p:cNvSpPr txBox="1"/>
          <p:nvPr/>
        </p:nvSpPr>
        <p:spPr>
          <a:xfrm>
            <a:off x="710032" y="1636201"/>
            <a:ext cx="493544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5649913" algn="l"/>
              </a:tabLst>
            </a:pPr>
            <a:r>
              <a:rPr lang="es-AR" sz="2800" b="1" dirty="0" smtClean="0">
                <a:solidFill>
                  <a:srgbClr val="2C5EA6"/>
                </a:solidFill>
                <a:latin typeface="Corbel" panose="020B0503020204020204" pitchFamily="34" charset="0"/>
              </a:rPr>
              <a:t>LABELS</a:t>
            </a:r>
            <a:endParaRPr lang="es-AR" sz="2800" b="1" dirty="0">
              <a:solidFill>
                <a:srgbClr val="2C5EA6"/>
              </a:solidFill>
              <a:latin typeface="Corbel" panose="020B0503020204020204" pitchFamily="34" charset="0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="" xmlns:a16="http://schemas.microsoft.com/office/drawing/2014/main" id="{7C77E145-A92F-6502-A931-286B34CA2310}"/>
              </a:ext>
            </a:extLst>
          </p:cNvPr>
          <p:cNvSpPr txBox="1"/>
          <p:nvPr/>
        </p:nvSpPr>
        <p:spPr>
          <a:xfrm>
            <a:off x="701154" y="903157"/>
            <a:ext cx="21131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tabLst>
                <a:tab pos="5649913" algn="l"/>
              </a:tabLst>
            </a:pPr>
            <a:r>
              <a:rPr lang="es-AR" sz="3600" b="1" dirty="0" smtClean="0">
                <a:latin typeface="Corbel" panose="020B0503020204020204" pitchFamily="34" charset="0"/>
              </a:rPr>
              <a:t>DATASET</a:t>
            </a:r>
            <a:endParaRPr lang="es-AR" sz="3600" b="1" dirty="0">
              <a:latin typeface="Corbel" panose="020B0503020204020204" pitchFamily="34" charset="0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="" xmlns:a16="http://schemas.microsoft.com/office/drawing/2014/main" id="{0DD0B780-378A-4F19-22BA-3C4E5A3E4BB9}"/>
              </a:ext>
            </a:extLst>
          </p:cNvPr>
          <p:cNvSpPr txBox="1"/>
          <p:nvPr/>
        </p:nvSpPr>
        <p:spPr>
          <a:xfrm>
            <a:off x="710032" y="492362"/>
            <a:ext cx="67518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000" b="1" dirty="0" smtClean="0">
                <a:solidFill>
                  <a:srgbClr val="2C5EA6"/>
                </a:solidFill>
                <a:latin typeface="Corbel" panose="020B0503020204020204" pitchFamily="34" charset="0"/>
              </a:rPr>
              <a:t>EDA</a:t>
            </a:r>
            <a:endParaRPr lang="es-ES" sz="2000" b="1" dirty="0">
              <a:solidFill>
                <a:srgbClr val="2C5EA6"/>
              </a:solidFill>
              <a:latin typeface="Corbel" panose="020B0503020204020204" pitchFamily="34" charset="0"/>
            </a:endParaRPr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6207" y="2299875"/>
            <a:ext cx="5058152" cy="1303401"/>
          </a:xfrm>
          <a:prstGeom prst="rect">
            <a:avLst/>
          </a:prstGeom>
        </p:spPr>
      </p:pic>
      <p:pic>
        <p:nvPicPr>
          <p:cNvPr id="8" name="Imagen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7328" y="827666"/>
            <a:ext cx="5077031" cy="1287219"/>
          </a:xfrm>
          <a:prstGeom prst="rect">
            <a:avLst/>
          </a:prstGeom>
        </p:spPr>
      </p:pic>
      <p:pic>
        <p:nvPicPr>
          <p:cNvPr id="11" name="Imagen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65457" y="4961300"/>
            <a:ext cx="6971374" cy="1423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15064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/>
          <p:cNvSpPr txBox="1"/>
          <p:nvPr/>
        </p:nvSpPr>
        <p:spPr>
          <a:xfrm>
            <a:off x="710032" y="1636201"/>
            <a:ext cx="493544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5649913" algn="l"/>
              </a:tabLst>
            </a:pPr>
            <a:r>
              <a:rPr lang="es-AR" sz="2800" b="1" dirty="0" smtClean="0">
                <a:solidFill>
                  <a:srgbClr val="2C5EA6"/>
                </a:solidFill>
                <a:latin typeface="Corbel" panose="020B0503020204020204" pitchFamily="34" charset="0"/>
              </a:rPr>
              <a:t>LABELS</a:t>
            </a:r>
            <a:endParaRPr lang="es-AR" sz="2800" b="1" dirty="0">
              <a:solidFill>
                <a:srgbClr val="2C5EA6"/>
              </a:solidFill>
              <a:latin typeface="Corbel" panose="020B0503020204020204" pitchFamily="34" charset="0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="" xmlns:a16="http://schemas.microsoft.com/office/drawing/2014/main" id="{7C77E145-A92F-6502-A931-286B34CA2310}"/>
              </a:ext>
            </a:extLst>
          </p:cNvPr>
          <p:cNvSpPr txBox="1"/>
          <p:nvPr/>
        </p:nvSpPr>
        <p:spPr>
          <a:xfrm>
            <a:off x="701154" y="903157"/>
            <a:ext cx="21131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tabLst>
                <a:tab pos="5649913" algn="l"/>
              </a:tabLst>
            </a:pPr>
            <a:r>
              <a:rPr lang="es-AR" sz="3600" b="1" dirty="0" smtClean="0">
                <a:latin typeface="Corbel" panose="020B0503020204020204" pitchFamily="34" charset="0"/>
              </a:rPr>
              <a:t>DATASET</a:t>
            </a:r>
            <a:endParaRPr lang="es-AR" sz="3600" b="1" dirty="0">
              <a:latin typeface="Corbel" panose="020B0503020204020204" pitchFamily="34" charset="0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="" xmlns:a16="http://schemas.microsoft.com/office/drawing/2014/main" id="{0DD0B780-378A-4F19-22BA-3C4E5A3E4BB9}"/>
              </a:ext>
            </a:extLst>
          </p:cNvPr>
          <p:cNvSpPr txBox="1"/>
          <p:nvPr/>
        </p:nvSpPr>
        <p:spPr>
          <a:xfrm>
            <a:off x="710032" y="492362"/>
            <a:ext cx="67518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000" b="1" dirty="0" smtClean="0">
                <a:solidFill>
                  <a:srgbClr val="2C5EA6"/>
                </a:solidFill>
                <a:latin typeface="Corbel" panose="020B0503020204020204" pitchFamily="34" charset="0"/>
              </a:rPr>
              <a:t>EDA</a:t>
            </a:r>
            <a:endParaRPr lang="es-ES" sz="2000" b="1" dirty="0">
              <a:solidFill>
                <a:srgbClr val="2C5EA6"/>
              </a:solidFill>
              <a:latin typeface="Corbel" panose="020B0503020204020204" pitchFamily="34" charset="0"/>
            </a:endParaRPr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2424" y="164136"/>
            <a:ext cx="7135844" cy="3537940"/>
          </a:xfrm>
          <a:prstGeom prst="rect">
            <a:avLst/>
          </a:prstGeom>
        </p:spPr>
      </p:pic>
      <p:pic>
        <p:nvPicPr>
          <p:cNvPr id="7" name="Imagen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2621" y="3291840"/>
            <a:ext cx="7031239" cy="3489009"/>
          </a:xfrm>
          <a:prstGeom prst="rect">
            <a:avLst/>
          </a:prstGeom>
        </p:spPr>
      </p:pic>
      <p:sp>
        <p:nvSpPr>
          <p:cNvPr id="14" name="CuadroTexto 13"/>
          <p:cNvSpPr txBox="1"/>
          <p:nvPr/>
        </p:nvSpPr>
        <p:spPr>
          <a:xfrm>
            <a:off x="7478445" y="574372"/>
            <a:ext cx="367163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E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Predominancia de </a:t>
            </a:r>
            <a:r>
              <a:rPr lang="es-E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la especie </a:t>
            </a:r>
            <a:r>
              <a:rPr lang="es-E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Tomate (~ 3 </a:t>
            </a:r>
            <a:r>
              <a:rPr lang="es-E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veces al inmediato </a:t>
            </a:r>
            <a:r>
              <a:rPr lang="es-E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siguiente).</a:t>
            </a:r>
            <a:endParaRPr lang="es-ES" sz="1600" dirty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s-ES" sz="1600" dirty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E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Desbalanceo marcado de especies.</a:t>
            </a:r>
            <a:endParaRPr lang="en-US" sz="1600" dirty="0" smtClean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</a:endParaRPr>
          </a:p>
        </p:txBody>
      </p:sp>
      <p:sp>
        <p:nvSpPr>
          <p:cNvPr id="8" name="CuadroTexto 7"/>
          <p:cNvSpPr txBox="1"/>
          <p:nvPr/>
        </p:nvSpPr>
        <p:spPr>
          <a:xfrm>
            <a:off x="7414216" y="3702076"/>
            <a:ext cx="4323695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En la mayoría de las especies se observa el desbalance de </a:t>
            </a:r>
            <a:r>
              <a:rPr lang="es-E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estado de salud, </a:t>
            </a:r>
            <a:r>
              <a:rPr lang="es-E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con excepción de las manzanas, cereza y ají donde las clases </a:t>
            </a:r>
            <a:r>
              <a:rPr lang="es-E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están </a:t>
            </a:r>
            <a:r>
              <a:rPr lang="es-E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relativamente balanceadas.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s-ES" sz="1600" dirty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E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Se </a:t>
            </a:r>
            <a:r>
              <a:rPr lang="es-E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deduce que gran parte del desbalanceo del set es atribuida a la especie tomate.</a:t>
            </a:r>
            <a:r>
              <a:rPr lang="es-E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	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s-ES" sz="1600" dirty="0">
              <a:solidFill>
                <a:schemeClr val="tx1">
                  <a:lumMod val="65000"/>
                  <a:lumOff val="35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E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Algunos de las especies les falta casos de alguno de los 2 estados de salud.</a:t>
            </a:r>
            <a:endParaRPr lang="en-US" sz="1600" dirty="0" smtClean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</a:endParaRPr>
          </a:p>
        </p:txBody>
      </p:sp>
      <p:sp>
        <p:nvSpPr>
          <p:cNvPr id="9" name="CuadroTexto 8"/>
          <p:cNvSpPr txBox="1"/>
          <p:nvPr/>
        </p:nvSpPr>
        <p:spPr>
          <a:xfrm>
            <a:off x="710032" y="2372574"/>
            <a:ext cx="35876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E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Agrupamos por en especie y por estado de salud (</a:t>
            </a:r>
            <a:r>
              <a:rPr lang="es-ES" sz="1600" dirty="0" err="1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Healthy</a:t>
            </a:r>
            <a:r>
              <a:rPr lang="es-E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/</a:t>
            </a:r>
            <a:r>
              <a:rPr lang="es-ES" sz="1600" dirty="0" err="1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Diseased</a:t>
            </a:r>
            <a:r>
              <a:rPr lang="es-E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).</a:t>
            </a:r>
            <a:endParaRPr lang="en-US" sz="1600" dirty="0" smtClean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</a:endParaRPr>
          </a:p>
        </p:txBody>
      </p:sp>
      <p:sp>
        <p:nvSpPr>
          <p:cNvPr id="3" name="Rectángulo redondeado 2"/>
          <p:cNvSpPr/>
          <p:nvPr/>
        </p:nvSpPr>
        <p:spPr>
          <a:xfrm>
            <a:off x="6563360" y="5831840"/>
            <a:ext cx="304800" cy="294640"/>
          </a:xfrm>
          <a:prstGeom prst="roundRect">
            <a:avLst/>
          </a:prstGeom>
          <a:solidFill>
            <a:schemeClr val="accent1">
              <a:alpha val="2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Rectángulo redondeado 10"/>
          <p:cNvSpPr/>
          <p:nvPr/>
        </p:nvSpPr>
        <p:spPr>
          <a:xfrm>
            <a:off x="1757725" y="6313616"/>
            <a:ext cx="355600" cy="304800"/>
          </a:xfrm>
          <a:prstGeom prst="roundRect">
            <a:avLst/>
          </a:prstGeom>
          <a:solidFill>
            <a:schemeClr val="accent1">
              <a:alpha val="2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Rectángulo redondeado 11"/>
          <p:cNvSpPr/>
          <p:nvPr/>
        </p:nvSpPr>
        <p:spPr>
          <a:xfrm>
            <a:off x="792525" y="5984240"/>
            <a:ext cx="325075" cy="329376"/>
          </a:xfrm>
          <a:prstGeom prst="roundRect">
            <a:avLst/>
          </a:prstGeom>
          <a:solidFill>
            <a:schemeClr val="accent1">
              <a:alpha val="2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3" name="Rectángulo redondeado 12"/>
          <p:cNvSpPr/>
          <p:nvPr/>
        </p:nvSpPr>
        <p:spPr>
          <a:xfrm>
            <a:off x="1320867" y="5844128"/>
            <a:ext cx="355600" cy="304800"/>
          </a:xfrm>
          <a:prstGeom prst="roundRect">
            <a:avLst/>
          </a:prstGeom>
          <a:solidFill>
            <a:srgbClr val="00B050">
              <a:alpha val="2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5" name="Rectángulo redondeado 14"/>
          <p:cNvSpPr/>
          <p:nvPr/>
        </p:nvSpPr>
        <p:spPr>
          <a:xfrm>
            <a:off x="3434180" y="5831840"/>
            <a:ext cx="446940" cy="405613"/>
          </a:xfrm>
          <a:prstGeom prst="roundRect">
            <a:avLst/>
          </a:prstGeom>
          <a:solidFill>
            <a:srgbClr val="00B050">
              <a:alpha val="2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6" name="Rectángulo redondeado 15"/>
          <p:cNvSpPr/>
          <p:nvPr/>
        </p:nvSpPr>
        <p:spPr>
          <a:xfrm>
            <a:off x="2590827" y="5825936"/>
            <a:ext cx="446940" cy="405613"/>
          </a:xfrm>
          <a:prstGeom prst="roundRect">
            <a:avLst/>
          </a:prstGeom>
          <a:solidFill>
            <a:srgbClr val="00B050">
              <a:alpha val="2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7" name="Rectángulo redondeado 16"/>
          <p:cNvSpPr/>
          <p:nvPr/>
        </p:nvSpPr>
        <p:spPr>
          <a:xfrm>
            <a:off x="6076242" y="5793721"/>
            <a:ext cx="406761" cy="355207"/>
          </a:xfrm>
          <a:prstGeom prst="roundRect">
            <a:avLst/>
          </a:prstGeom>
          <a:solidFill>
            <a:srgbClr val="C00000">
              <a:alpha val="2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238379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/>
          <p:cNvSpPr txBox="1"/>
          <p:nvPr/>
        </p:nvSpPr>
        <p:spPr>
          <a:xfrm>
            <a:off x="710032" y="1636201"/>
            <a:ext cx="493544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5649913" algn="l"/>
              </a:tabLst>
            </a:pPr>
            <a:r>
              <a:rPr lang="es-AR" sz="2800" b="1" dirty="0" smtClean="0">
                <a:solidFill>
                  <a:srgbClr val="2C5EA6"/>
                </a:solidFill>
                <a:latin typeface="Corbel" panose="020B0503020204020204" pitchFamily="34" charset="0"/>
              </a:rPr>
              <a:t>LABELS</a:t>
            </a:r>
            <a:endParaRPr lang="es-AR" sz="2800" b="1" dirty="0">
              <a:solidFill>
                <a:srgbClr val="2C5EA6"/>
              </a:solidFill>
              <a:latin typeface="Corbel" panose="020B0503020204020204" pitchFamily="34" charset="0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="" xmlns:a16="http://schemas.microsoft.com/office/drawing/2014/main" id="{7C77E145-A92F-6502-A931-286B34CA2310}"/>
              </a:ext>
            </a:extLst>
          </p:cNvPr>
          <p:cNvSpPr txBox="1"/>
          <p:nvPr/>
        </p:nvSpPr>
        <p:spPr>
          <a:xfrm>
            <a:off x="701154" y="903157"/>
            <a:ext cx="21131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tabLst>
                <a:tab pos="5649913" algn="l"/>
              </a:tabLst>
            </a:pPr>
            <a:r>
              <a:rPr lang="es-AR" sz="3600" b="1" dirty="0" smtClean="0">
                <a:latin typeface="Corbel" panose="020B0503020204020204" pitchFamily="34" charset="0"/>
              </a:rPr>
              <a:t>DATASET</a:t>
            </a:r>
            <a:endParaRPr lang="es-AR" sz="3600" b="1" dirty="0">
              <a:latin typeface="Corbel" panose="020B0503020204020204" pitchFamily="34" charset="0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="" xmlns:a16="http://schemas.microsoft.com/office/drawing/2014/main" id="{0DD0B780-378A-4F19-22BA-3C4E5A3E4BB9}"/>
              </a:ext>
            </a:extLst>
          </p:cNvPr>
          <p:cNvSpPr txBox="1"/>
          <p:nvPr/>
        </p:nvSpPr>
        <p:spPr>
          <a:xfrm>
            <a:off x="710032" y="492362"/>
            <a:ext cx="67518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000" b="1" dirty="0" smtClean="0">
                <a:solidFill>
                  <a:srgbClr val="2C5EA6"/>
                </a:solidFill>
                <a:latin typeface="Corbel" panose="020B0503020204020204" pitchFamily="34" charset="0"/>
              </a:rPr>
              <a:t>EDA</a:t>
            </a:r>
            <a:endParaRPr lang="es-ES" sz="2000" b="1" dirty="0">
              <a:solidFill>
                <a:srgbClr val="2C5EA6"/>
              </a:solidFill>
              <a:latin typeface="Corbel" panose="020B0503020204020204" pitchFamily="34" charset="0"/>
            </a:endParaRPr>
          </a:p>
        </p:txBody>
      </p:sp>
      <p:sp>
        <p:nvSpPr>
          <p:cNvPr id="9" name="CuadroTexto 8"/>
          <p:cNvSpPr txBox="1"/>
          <p:nvPr/>
        </p:nvSpPr>
        <p:spPr>
          <a:xfrm>
            <a:off x="710032" y="2246134"/>
            <a:ext cx="42886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E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Usando el </a:t>
            </a:r>
            <a:r>
              <a:rPr lang="es-ES" sz="1600" dirty="0" err="1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dataset</a:t>
            </a:r>
            <a:r>
              <a:rPr lang="es-E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 segmentado, vemos el tamaño de hoja…</a:t>
            </a:r>
            <a:endParaRPr lang="en-US" sz="1600" dirty="0" smtClean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</a:endParaRPr>
          </a:p>
        </p:txBody>
      </p:sp>
      <p:pic>
        <p:nvPicPr>
          <p:cNvPr id="13" name="Imagen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874" y="3018309"/>
            <a:ext cx="7372331" cy="3658263"/>
          </a:xfrm>
          <a:prstGeom prst="rect">
            <a:avLst/>
          </a:prstGeom>
        </p:spPr>
      </p:pic>
      <p:sp>
        <p:nvSpPr>
          <p:cNvPr id="15" name="CuadroTexto 14"/>
          <p:cNvSpPr txBox="1"/>
          <p:nvPr/>
        </p:nvSpPr>
        <p:spPr>
          <a:xfrm>
            <a:off x="8083645" y="3018309"/>
            <a:ext cx="3986435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600" dirty="0" smtClean="0"/>
              <a:t>Se </a:t>
            </a:r>
            <a:r>
              <a:rPr lang="es-ES" sz="1600" dirty="0"/>
              <a:t>ve que </a:t>
            </a:r>
            <a:r>
              <a:rPr lang="es-ES" sz="1600" dirty="0" smtClean="0"/>
              <a:t>mayoritariamente </a:t>
            </a:r>
            <a:r>
              <a:rPr lang="es-ES" sz="1600" dirty="0"/>
              <a:t>siguen una distribución normal los tamaños de hoja</a:t>
            </a:r>
            <a:r>
              <a:rPr lang="es-ES" sz="1600" dirty="0" smtClean="0"/>
              <a:t>.</a:t>
            </a:r>
          </a:p>
          <a:p>
            <a:endParaRPr lang="es-E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600" dirty="0" smtClean="0"/>
              <a:t>No </a:t>
            </a:r>
            <a:r>
              <a:rPr lang="es-ES" sz="1600" dirty="0"/>
              <a:t>se observan diferencias de tamaño entre misma especie sana o enferma, salvo para el </a:t>
            </a:r>
            <a:r>
              <a:rPr lang="es-ES" sz="1600" dirty="0" err="1"/>
              <a:t>maiz</a:t>
            </a:r>
            <a:r>
              <a:rPr lang="es-ES" sz="1600" dirty="0" smtClean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600" dirty="0" smtClean="0"/>
              <a:t>El </a:t>
            </a:r>
            <a:r>
              <a:rPr lang="es-ES" sz="1600" dirty="0"/>
              <a:t>tamaño promedio de hoja de las especies esta alrededor del 50%, 60% de la imagen, con excepción del maíz que ocupa un mayor tamaño.</a:t>
            </a:r>
          </a:p>
        </p:txBody>
      </p:sp>
      <p:pic>
        <p:nvPicPr>
          <p:cNvPr id="17" name="Imagen 16"/>
          <p:cNvPicPr>
            <a:picLocks noChangeAspect="1"/>
          </p:cNvPicPr>
          <p:nvPr/>
        </p:nvPicPr>
        <p:blipFill rotWithShape="1">
          <a:blip r:embed="rId4"/>
          <a:srcRect b="85989"/>
          <a:stretch/>
        </p:blipFill>
        <p:spPr>
          <a:xfrm>
            <a:off x="5957888" y="203071"/>
            <a:ext cx="5046912" cy="2515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87907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CuadroTexto 15"/>
          <p:cNvSpPr txBox="1"/>
          <p:nvPr/>
        </p:nvSpPr>
        <p:spPr>
          <a:xfrm>
            <a:off x="1289954" y="4274802"/>
            <a:ext cx="8999033" cy="7260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4900"/>
              </a:lnSpc>
              <a:defRPr/>
            </a:pPr>
            <a:r>
              <a:rPr lang="es-ES" sz="4400" b="1" dirty="0" smtClean="0">
                <a:latin typeface="Corbel" panose="020B0503020204020204" pitchFamily="34" charset="0"/>
              </a:rPr>
              <a:t>MODELLING</a:t>
            </a:r>
            <a:endParaRPr lang="es-AR" sz="4000" b="1" dirty="0">
              <a:latin typeface="Corbel" panose="020B05030202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65389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/>
          <p:cNvSpPr txBox="1"/>
          <p:nvPr/>
        </p:nvSpPr>
        <p:spPr>
          <a:xfrm>
            <a:off x="710032" y="889928"/>
            <a:ext cx="54617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tabLst>
                <a:tab pos="5649913" algn="l"/>
              </a:tabLst>
            </a:pPr>
            <a:r>
              <a:rPr lang="es-AR" sz="36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Consideraciones generales</a:t>
            </a:r>
            <a:endParaRPr lang="es-AR" sz="3600" b="1" dirty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</a:endParaRPr>
          </a:p>
        </p:txBody>
      </p:sp>
      <p:sp>
        <p:nvSpPr>
          <p:cNvPr id="8" name="CuadroTexto 7"/>
          <p:cNvSpPr txBox="1"/>
          <p:nvPr/>
        </p:nvSpPr>
        <p:spPr>
          <a:xfrm>
            <a:off x="710032" y="492362"/>
            <a:ext cx="161294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AR" sz="2000" b="1" dirty="0" smtClean="0">
                <a:solidFill>
                  <a:srgbClr val="9E84C0"/>
                </a:solidFill>
                <a:latin typeface="Corbel" panose="020B0503020204020204" pitchFamily="34" charset="0"/>
              </a:rPr>
              <a:t>MODELLING</a:t>
            </a:r>
            <a:endParaRPr lang="es-AR" sz="2000" b="1" dirty="0">
              <a:solidFill>
                <a:srgbClr val="9E84C0"/>
              </a:solidFill>
              <a:latin typeface="Corbel" panose="020B0503020204020204" pitchFamily="34" charset="0"/>
            </a:endParaRPr>
          </a:p>
        </p:txBody>
      </p:sp>
      <p:sp>
        <p:nvSpPr>
          <p:cNvPr id="34" name="CuadroTexto 33"/>
          <p:cNvSpPr txBox="1"/>
          <p:nvPr/>
        </p:nvSpPr>
        <p:spPr>
          <a:xfrm>
            <a:off x="710032" y="1775344"/>
            <a:ext cx="10923168" cy="4062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E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DATASET CONSTRUCTOR: </a:t>
            </a:r>
            <a:r>
              <a:rPr lang="es-ES" dirty="0" smtClean="0"/>
              <a:t>Para cada instancia (imagen), </a:t>
            </a:r>
            <a:r>
              <a:rPr lang="es-ES" dirty="0"/>
              <a:t>seleccionamos aleatoriamente de cada uno de los 3 </a:t>
            </a:r>
            <a:r>
              <a:rPr lang="es-ES" dirty="0" err="1" smtClean="0"/>
              <a:t>datasets</a:t>
            </a:r>
            <a:r>
              <a:rPr lang="es-ES" dirty="0" smtClean="0"/>
              <a:t> </a:t>
            </a:r>
            <a:r>
              <a:rPr lang="es-ES" dirty="0" smtClean="0">
                <a:latin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es-ES" dirty="0" smtClean="0"/>
              <a:t>Mantenemos constante </a:t>
            </a:r>
            <a:r>
              <a:rPr lang="es-ES" dirty="0"/>
              <a:t>el tamaño del </a:t>
            </a:r>
            <a:r>
              <a:rPr lang="es-ES" dirty="0" err="1"/>
              <a:t>dataset</a:t>
            </a:r>
            <a:r>
              <a:rPr lang="es-ES" dirty="0"/>
              <a:t> </a:t>
            </a:r>
            <a:r>
              <a:rPr lang="es-ES" dirty="0" smtClean="0"/>
              <a:t>y buscamos que </a:t>
            </a:r>
            <a:r>
              <a:rPr lang="es-ES" dirty="0"/>
              <a:t>el modelo </a:t>
            </a:r>
            <a:r>
              <a:rPr lang="es-ES" dirty="0" smtClean="0"/>
              <a:t>generalice </a:t>
            </a:r>
            <a:r>
              <a:rPr lang="es-ES" dirty="0"/>
              <a:t>mejor con esta estrategia.</a:t>
            </a:r>
          </a:p>
          <a:p>
            <a:pPr lvl="1" algn="just"/>
            <a:r>
              <a:rPr lang="es-ES" dirty="0"/>
              <a:t/>
            </a:r>
            <a:br>
              <a:rPr lang="es-ES" dirty="0"/>
            </a:br>
            <a:r>
              <a:rPr lang="es-ES" dirty="0" smtClean="0"/>
              <a:t>Convertimos </a:t>
            </a:r>
            <a:r>
              <a:rPr lang="es-ES" dirty="0"/>
              <a:t>el problema a uno de clasificación </a:t>
            </a:r>
            <a:r>
              <a:rPr lang="es-ES" dirty="0" err="1" smtClean="0"/>
              <a:t>Multi</a:t>
            </a:r>
            <a:r>
              <a:rPr lang="es-ES" dirty="0" smtClean="0"/>
              <a:t>-Output</a:t>
            </a:r>
            <a:endParaRPr lang="es-ES" dirty="0"/>
          </a:p>
          <a:p>
            <a:pPr lvl="1" algn="just"/>
            <a:r>
              <a:rPr lang="es-ES" dirty="0"/>
              <a:t/>
            </a:r>
            <a:br>
              <a:rPr lang="es-ES" dirty="0"/>
            </a:br>
            <a:r>
              <a:rPr lang="es-ES" dirty="0"/>
              <a:t>1. Clasificamos </a:t>
            </a:r>
            <a:r>
              <a:rPr lang="es-ES" dirty="0" err="1"/>
              <a:t>Multilabel</a:t>
            </a:r>
            <a:r>
              <a:rPr lang="es-ES" dirty="0"/>
              <a:t> para la especie de planta</a:t>
            </a:r>
          </a:p>
          <a:p>
            <a:pPr lvl="1" algn="just"/>
            <a:r>
              <a:rPr lang="es-ES" dirty="0"/>
              <a:t>2. Clasificación Binaria para el estado de la planta: '</a:t>
            </a:r>
            <a:r>
              <a:rPr lang="es-ES" dirty="0" err="1"/>
              <a:t>Healthy</a:t>
            </a:r>
            <a:r>
              <a:rPr lang="es-ES" dirty="0"/>
              <a:t>' si está sana o '</a:t>
            </a:r>
            <a:r>
              <a:rPr lang="es-ES" dirty="0" err="1"/>
              <a:t>Diseased</a:t>
            </a:r>
            <a:r>
              <a:rPr lang="es-ES" dirty="0"/>
              <a:t>' si presenta patología</a:t>
            </a:r>
            <a:r>
              <a:rPr lang="es-ES" dirty="0" smtClean="0"/>
              <a:t>.</a:t>
            </a:r>
          </a:p>
          <a:p>
            <a:pPr lvl="1" algn="just"/>
            <a:endParaRPr lang="es-ES" dirty="0"/>
          </a:p>
          <a:p>
            <a:pPr marL="342900" lvl="1" indent="-342900" algn="just">
              <a:buFont typeface="Arial" panose="020B0604020202020204" pitchFamily="34" charset="0"/>
              <a:buChar char="•"/>
            </a:pPr>
            <a:r>
              <a:rPr lang="es-E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TRAIN/VALIDATION/TEST SPLIT:</a:t>
            </a:r>
          </a:p>
          <a:p>
            <a:pPr marL="342900" lvl="1" indent="-342900" algn="just">
              <a:buFont typeface="Arial" panose="020B0604020202020204" pitchFamily="34" charset="0"/>
              <a:buChar char="•"/>
            </a:pPr>
            <a:endParaRPr lang="es-ES" sz="1600" dirty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</a:endParaRPr>
          </a:p>
          <a:p>
            <a:pPr marL="0" lvl="1" algn="just"/>
            <a:r>
              <a:rPr lang="es-E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Estratificado con los </a:t>
            </a:r>
            <a:r>
              <a:rPr lang="es-ES" sz="1600" dirty="0" err="1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labels</a:t>
            </a:r>
            <a:r>
              <a:rPr lang="es-E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 originales</a:t>
            </a:r>
          </a:p>
          <a:p>
            <a:pPr marL="0" lvl="1" algn="just"/>
            <a:r>
              <a:rPr lang="es-E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(38 clases) por el desbalance.</a:t>
            </a:r>
          </a:p>
          <a:p>
            <a:pPr marL="0" lvl="1" algn="just"/>
            <a:endParaRPr lang="es-ES" sz="1600" dirty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</a:endParaRPr>
          </a:p>
          <a:p>
            <a:pPr marL="342900" lvl="1" indent="-342900" algn="just">
              <a:buFont typeface="Arial" panose="020B0604020202020204" pitchFamily="34" charset="0"/>
              <a:buChar char="•"/>
            </a:pPr>
            <a:r>
              <a:rPr lang="es-E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PRE-PROCESAMIENTO:</a:t>
            </a:r>
            <a:endParaRPr lang="es-ES" sz="1600" dirty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</a:endParaRPr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 rotWithShape="1">
          <a:blip r:embed="rId4"/>
          <a:srcRect l="23818" t="51638" r="55859" b="39061"/>
          <a:stretch/>
        </p:blipFill>
        <p:spPr>
          <a:xfrm>
            <a:off x="4081652" y="4328160"/>
            <a:ext cx="3670428" cy="944880"/>
          </a:xfrm>
          <a:prstGeom prst="rect">
            <a:avLst/>
          </a:prstGeom>
        </p:spPr>
      </p:pic>
      <p:sp>
        <p:nvSpPr>
          <p:cNvPr id="27" name="Rectángulo 26"/>
          <p:cNvSpPr/>
          <p:nvPr/>
        </p:nvSpPr>
        <p:spPr>
          <a:xfrm>
            <a:off x="2814320" y="5932439"/>
            <a:ext cx="1148080" cy="6197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600" dirty="0" smtClean="0"/>
              <a:t>TO TENSOR</a:t>
            </a:r>
            <a:endParaRPr lang="es-ES" sz="1600" dirty="0"/>
          </a:p>
        </p:txBody>
      </p:sp>
      <p:cxnSp>
        <p:nvCxnSpPr>
          <p:cNvPr id="5" name="Conector recto de flecha 4"/>
          <p:cNvCxnSpPr>
            <a:stCxn id="27" idx="3"/>
          </p:cNvCxnSpPr>
          <p:nvPr/>
        </p:nvCxnSpPr>
        <p:spPr>
          <a:xfrm>
            <a:off x="3962400" y="6242319"/>
            <a:ext cx="68072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ángulo 28"/>
          <p:cNvSpPr/>
          <p:nvPr/>
        </p:nvSpPr>
        <p:spPr>
          <a:xfrm>
            <a:off x="4643120" y="5936518"/>
            <a:ext cx="1889760" cy="6197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600" dirty="0" err="1" smtClean="0"/>
              <a:t>Resize</a:t>
            </a:r>
            <a:r>
              <a:rPr lang="es-ES" sz="1600" dirty="0" smtClean="0"/>
              <a:t> </a:t>
            </a:r>
            <a:r>
              <a:rPr lang="es-ES" sz="1600" dirty="0" err="1" smtClean="0"/>
              <a:t>to</a:t>
            </a:r>
            <a:r>
              <a:rPr lang="es-ES" sz="1600" dirty="0" smtClean="0"/>
              <a:t> 224x224 (RESNET18)</a:t>
            </a:r>
            <a:endParaRPr lang="es-ES" sz="1600" dirty="0"/>
          </a:p>
        </p:txBody>
      </p:sp>
      <p:cxnSp>
        <p:nvCxnSpPr>
          <p:cNvPr id="31" name="Conector recto de flecha 30"/>
          <p:cNvCxnSpPr/>
          <p:nvPr/>
        </p:nvCxnSpPr>
        <p:spPr>
          <a:xfrm>
            <a:off x="6532880" y="6242319"/>
            <a:ext cx="68072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ángulo 35"/>
          <p:cNvSpPr/>
          <p:nvPr/>
        </p:nvSpPr>
        <p:spPr>
          <a:xfrm>
            <a:off x="7213600" y="5925357"/>
            <a:ext cx="2174240" cy="6197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600" dirty="0" smtClean="0"/>
              <a:t>NORMALIZE</a:t>
            </a:r>
            <a:br>
              <a:rPr lang="es-ES" sz="1600" dirty="0" smtClean="0"/>
            </a:br>
            <a:r>
              <a:rPr lang="es-ES" sz="1600" dirty="0" smtClean="0"/>
              <a:t>w.r.t. Train </a:t>
            </a:r>
            <a:r>
              <a:rPr lang="es-ES" sz="1600" dirty="0" err="1" smtClean="0"/>
              <a:t>dataset</a:t>
            </a:r>
            <a:endParaRPr lang="es-ES" sz="1600" dirty="0"/>
          </a:p>
        </p:txBody>
      </p:sp>
      <p:pic>
        <p:nvPicPr>
          <p:cNvPr id="37" name="Imagen 36"/>
          <p:cNvPicPr>
            <a:picLocks noChangeAspect="1"/>
          </p:cNvPicPr>
          <p:nvPr/>
        </p:nvPicPr>
        <p:blipFill rotWithShape="1">
          <a:blip r:embed="rId4"/>
          <a:srcRect l="23818" t="42717" r="55298" b="48203"/>
          <a:stretch/>
        </p:blipFill>
        <p:spPr>
          <a:xfrm>
            <a:off x="7891651" y="4328160"/>
            <a:ext cx="3863469" cy="944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9442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CuadroTexto 15"/>
          <p:cNvSpPr txBox="1"/>
          <p:nvPr/>
        </p:nvSpPr>
        <p:spPr>
          <a:xfrm>
            <a:off x="1289954" y="4274802"/>
            <a:ext cx="8999033" cy="7260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4900"/>
              </a:lnSpc>
              <a:defRPr/>
            </a:pPr>
            <a:r>
              <a:rPr lang="es-ES" sz="4400" b="1" dirty="0" smtClean="0">
                <a:latin typeface="Corbel" panose="020B0503020204020204" pitchFamily="34" charset="0"/>
              </a:rPr>
              <a:t>MODEL #1: BASELINE SIMPLE CNN</a:t>
            </a:r>
            <a:endParaRPr lang="es-AR" sz="4000" b="1" dirty="0">
              <a:latin typeface="Corbel" panose="020B05030202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50728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uadroTexto 12"/>
          <p:cNvSpPr txBox="1"/>
          <p:nvPr/>
        </p:nvSpPr>
        <p:spPr>
          <a:xfrm>
            <a:off x="710032" y="1778983"/>
            <a:ext cx="18710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AR" sz="2400" b="1" dirty="0" smtClean="0">
                <a:solidFill>
                  <a:srgbClr val="2C5EA6"/>
                </a:solidFill>
                <a:latin typeface="Corbel" panose="020B0503020204020204" pitchFamily="34" charset="0"/>
              </a:rPr>
              <a:t>Arquitectura</a:t>
            </a:r>
            <a:endParaRPr lang="es-AR" sz="2400" b="1" dirty="0">
              <a:solidFill>
                <a:srgbClr val="2C5EA6"/>
              </a:solidFill>
              <a:latin typeface="Corbel" panose="020B0503020204020204" pitchFamily="34" charset="0"/>
            </a:endParaRPr>
          </a:p>
        </p:txBody>
      </p:sp>
      <p:sp>
        <p:nvSpPr>
          <p:cNvPr id="6" name="CuadroTexto 5"/>
          <p:cNvSpPr txBox="1"/>
          <p:nvPr/>
        </p:nvSpPr>
        <p:spPr>
          <a:xfrm>
            <a:off x="710032" y="889928"/>
            <a:ext cx="42959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tabLst>
                <a:tab pos="5649913" algn="l"/>
              </a:tabLst>
            </a:pPr>
            <a:r>
              <a:rPr lang="es-AR" sz="3600" b="1" dirty="0" err="1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Basline</a:t>
            </a:r>
            <a:r>
              <a:rPr lang="es-AR" sz="36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 SIMPLE CNN</a:t>
            </a:r>
            <a:endParaRPr lang="es-AR" sz="3600" b="1" dirty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</a:endParaRPr>
          </a:p>
        </p:txBody>
      </p:sp>
      <p:sp>
        <p:nvSpPr>
          <p:cNvPr id="8" name="CuadroTexto 7"/>
          <p:cNvSpPr txBox="1"/>
          <p:nvPr/>
        </p:nvSpPr>
        <p:spPr>
          <a:xfrm>
            <a:off x="710032" y="492362"/>
            <a:ext cx="157408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AR" sz="2000" b="1" dirty="0" smtClean="0">
                <a:solidFill>
                  <a:srgbClr val="9E84C0"/>
                </a:solidFill>
                <a:latin typeface="Corbel" panose="020B0503020204020204" pitchFamily="34" charset="0"/>
              </a:rPr>
              <a:t>MODELO #1</a:t>
            </a:r>
            <a:endParaRPr lang="es-AR" sz="2000" b="1" dirty="0">
              <a:solidFill>
                <a:srgbClr val="9E84C0"/>
              </a:solidFill>
              <a:latin typeface="Corbel" panose="020B0503020204020204" pitchFamily="34" charset="0"/>
            </a:endParaRPr>
          </a:p>
        </p:txBody>
      </p:sp>
      <p:sp>
        <p:nvSpPr>
          <p:cNvPr id="4" name="Rectángulo 3"/>
          <p:cNvSpPr/>
          <p:nvPr/>
        </p:nvSpPr>
        <p:spPr>
          <a:xfrm>
            <a:off x="904240" y="2560320"/>
            <a:ext cx="883920" cy="81280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600" dirty="0" smtClean="0"/>
              <a:t>IMAGE</a:t>
            </a:r>
            <a:endParaRPr lang="es-ES" sz="1600" dirty="0"/>
          </a:p>
        </p:txBody>
      </p:sp>
      <p:cxnSp>
        <p:nvCxnSpPr>
          <p:cNvPr id="10" name="Conector recto de flecha 9"/>
          <p:cNvCxnSpPr>
            <a:stCxn id="4" idx="3"/>
          </p:cNvCxnSpPr>
          <p:nvPr/>
        </p:nvCxnSpPr>
        <p:spPr>
          <a:xfrm>
            <a:off x="1788160" y="2966720"/>
            <a:ext cx="43023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ángulo 10"/>
          <p:cNvSpPr/>
          <p:nvPr/>
        </p:nvSpPr>
        <p:spPr>
          <a:xfrm>
            <a:off x="2218394" y="2560320"/>
            <a:ext cx="1672886" cy="8128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600" dirty="0" smtClean="0"/>
              <a:t>CONVOLUTIONAL BLOCK</a:t>
            </a:r>
            <a:endParaRPr lang="es-ES" sz="1600" dirty="0"/>
          </a:p>
        </p:txBody>
      </p:sp>
      <p:sp>
        <p:nvSpPr>
          <p:cNvPr id="16" name="Rectángulo 15"/>
          <p:cNvSpPr/>
          <p:nvPr/>
        </p:nvSpPr>
        <p:spPr>
          <a:xfrm>
            <a:off x="4321514" y="2568694"/>
            <a:ext cx="1130892" cy="812800"/>
          </a:xfrm>
          <a:prstGeom prst="rect">
            <a:avLst/>
          </a:prstGeom>
          <a:solidFill>
            <a:schemeClr val="accent3">
              <a:lumMod val="90000"/>
            </a:schemeClr>
          </a:solidFill>
          <a:ln>
            <a:solidFill>
              <a:schemeClr val="accent3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600" dirty="0" smtClean="0"/>
              <a:t>DROPOUT</a:t>
            </a:r>
            <a:endParaRPr lang="es-ES" sz="1600" dirty="0"/>
          </a:p>
        </p:txBody>
      </p:sp>
      <p:cxnSp>
        <p:nvCxnSpPr>
          <p:cNvPr id="19" name="Conector recto de flecha 18"/>
          <p:cNvCxnSpPr/>
          <p:nvPr/>
        </p:nvCxnSpPr>
        <p:spPr>
          <a:xfrm>
            <a:off x="3891280" y="2966720"/>
            <a:ext cx="43023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ector recto de flecha 20"/>
          <p:cNvCxnSpPr/>
          <p:nvPr/>
        </p:nvCxnSpPr>
        <p:spPr>
          <a:xfrm>
            <a:off x="5452406" y="2966720"/>
            <a:ext cx="43023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ángulo 21"/>
          <p:cNvSpPr/>
          <p:nvPr/>
        </p:nvSpPr>
        <p:spPr>
          <a:xfrm>
            <a:off x="5882640" y="2560320"/>
            <a:ext cx="1672886" cy="8128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600" dirty="0" smtClean="0"/>
              <a:t>CONVOLUTIONAL BLOCK</a:t>
            </a:r>
            <a:endParaRPr lang="es-ES" sz="1600" dirty="0"/>
          </a:p>
        </p:txBody>
      </p:sp>
      <p:cxnSp>
        <p:nvCxnSpPr>
          <p:cNvPr id="23" name="Conector recto de flecha 22"/>
          <p:cNvCxnSpPr/>
          <p:nvPr/>
        </p:nvCxnSpPr>
        <p:spPr>
          <a:xfrm>
            <a:off x="7555526" y="2936698"/>
            <a:ext cx="43023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ángulo 23"/>
          <p:cNvSpPr/>
          <p:nvPr/>
        </p:nvSpPr>
        <p:spPr>
          <a:xfrm>
            <a:off x="7985760" y="2530298"/>
            <a:ext cx="1672886" cy="8128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600" dirty="0" smtClean="0"/>
              <a:t>CONVOLUTIONAL BLOCK</a:t>
            </a:r>
            <a:endParaRPr lang="es-ES" sz="1600" dirty="0"/>
          </a:p>
        </p:txBody>
      </p:sp>
      <p:sp>
        <p:nvSpPr>
          <p:cNvPr id="25" name="Rectángulo 24"/>
          <p:cNvSpPr/>
          <p:nvPr/>
        </p:nvSpPr>
        <p:spPr>
          <a:xfrm>
            <a:off x="10146326" y="1821364"/>
            <a:ext cx="1672886" cy="812800"/>
          </a:xfrm>
          <a:prstGeom prst="rect">
            <a:avLst/>
          </a:prstGeom>
          <a:solidFill>
            <a:srgbClr val="92D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600" dirty="0" smtClean="0"/>
              <a:t>CLASSIFICATION  HEAD </a:t>
            </a:r>
            <a:r>
              <a:rPr lang="es-ES" sz="1600" dirty="0" smtClean="0">
                <a:solidFill>
                  <a:schemeClr val="tx1"/>
                </a:solidFill>
              </a:rPr>
              <a:t>OUTPUT1</a:t>
            </a:r>
            <a:endParaRPr lang="es-ES" sz="1600" dirty="0">
              <a:solidFill>
                <a:schemeClr val="tx1"/>
              </a:solidFill>
            </a:endParaRPr>
          </a:p>
        </p:txBody>
      </p:sp>
      <p:cxnSp>
        <p:nvCxnSpPr>
          <p:cNvPr id="28" name="Conector angular 27"/>
          <p:cNvCxnSpPr>
            <a:stCxn id="24" idx="3"/>
            <a:endCxn id="25" idx="1"/>
          </p:cNvCxnSpPr>
          <p:nvPr/>
        </p:nvCxnSpPr>
        <p:spPr>
          <a:xfrm flipV="1">
            <a:off x="9658646" y="2227764"/>
            <a:ext cx="487680" cy="708934"/>
          </a:xfrm>
          <a:prstGeom prst="bentConnector3">
            <a:avLst/>
          </a:prstGeom>
          <a:ln>
            <a:solidFill>
              <a:schemeClr val="accent3">
                <a:lumMod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ector angular 29"/>
          <p:cNvCxnSpPr>
            <a:stCxn id="24" idx="3"/>
          </p:cNvCxnSpPr>
          <p:nvPr/>
        </p:nvCxnSpPr>
        <p:spPr>
          <a:xfrm>
            <a:off x="9658646" y="2936698"/>
            <a:ext cx="487680" cy="444796"/>
          </a:xfrm>
          <a:prstGeom prst="bentConnector3">
            <a:avLst/>
          </a:prstGeom>
          <a:ln>
            <a:solidFill>
              <a:schemeClr val="accent3">
                <a:lumMod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ector recto 31"/>
          <p:cNvCxnSpPr/>
          <p:nvPr/>
        </p:nvCxnSpPr>
        <p:spPr>
          <a:xfrm>
            <a:off x="2468880" y="3381494"/>
            <a:ext cx="0" cy="96698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CuadroTexto 32"/>
          <p:cNvSpPr txBox="1"/>
          <p:nvPr/>
        </p:nvSpPr>
        <p:spPr>
          <a:xfrm>
            <a:off x="2468880" y="3482225"/>
            <a:ext cx="199259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 err="1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Convolutional</a:t>
            </a:r>
            <a:r>
              <a:rPr lang="es-ES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s-ES" dirty="0" err="1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layer</a:t>
            </a:r>
            <a:endParaRPr lang="es-ES" dirty="0" smtClean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s-ES" dirty="0" err="1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Tanh</a:t>
            </a:r>
            <a:endParaRPr lang="es-ES" dirty="0" smtClean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s-ES" dirty="0" err="1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MaxPooling</a:t>
            </a:r>
            <a:endParaRPr lang="es-E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4" name="CuadroTexto 33"/>
          <p:cNvSpPr txBox="1"/>
          <p:nvPr/>
        </p:nvSpPr>
        <p:spPr>
          <a:xfrm>
            <a:off x="682257" y="4863984"/>
            <a:ext cx="432369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E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PARÁMETROS ENTRENABLES: </a:t>
            </a:r>
            <a:r>
              <a:rPr lang="es-ES" sz="16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189,751</a:t>
            </a:r>
          </a:p>
          <a:p>
            <a:pPr algn="just"/>
            <a:endParaRPr lang="en-US" sz="1600" dirty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</a:endParaRPr>
          </a:p>
        </p:txBody>
      </p:sp>
      <p:sp>
        <p:nvSpPr>
          <p:cNvPr id="35" name="Rectángulo 34"/>
          <p:cNvSpPr/>
          <p:nvPr/>
        </p:nvSpPr>
        <p:spPr>
          <a:xfrm>
            <a:off x="10146326" y="3052187"/>
            <a:ext cx="1672886" cy="812800"/>
          </a:xfrm>
          <a:prstGeom prst="rect">
            <a:avLst/>
          </a:prstGeom>
          <a:solidFill>
            <a:srgbClr val="92D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600" dirty="0" smtClean="0"/>
              <a:t>CLASSIFICATION  HEAD </a:t>
            </a:r>
            <a:r>
              <a:rPr lang="es-ES" sz="1600" dirty="0" smtClean="0">
                <a:solidFill>
                  <a:schemeClr val="tx1"/>
                </a:solidFill>
              </a:rPr>
              <a:t>OUTPUT2</a:t>
            </a:r>
            <a:endParaRPr lang="es-E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336597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uadroTexto 12"/>
          <p:cNvSpPr txBox="1"/>
          <p:nvPr/>
        </p:nvSpPr>
        <p:spPr>
          <a:xfrm>
            <a:off x="710032" y="1778983"/>
            <a:ext cx="21980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AR" sz="2400" b="1" dirty="0" smtClean="0">
                <a:solidFill>
                  <a:srgbClr val="2C5EA6"/>
                </a:solidFill>
                <a:latin typeface="Corbel" panose="020B0503020204020204" pitchFamily="34" charset="0"/>
              </a:rPr>
              <a:t>Entrenamiento</a:t>
            </a:r>
            <a:endParaRPr lang="es-AR" sz="2400" b="1" dirty="0">
              <a:solidFill>
                <a:srgbClr val="2C5EA6"/>
              </a:solidFill>
              <a:latin typeface="Corbel" panose="020B0503020204020204" pitchFamily="34" charset="0"/>
            </a:endParaRPr>
          </a:p>
        </p:txBody>
      </p:sp>
      <p:sp>
        <p:nvSpPr>
          <p:cNvPr id="6" name="CuadroTexto 5"/>
          <p:cNvSpPr txBox="1"/>
          <p:nvPr/>
        </p:nvSpPr>
        <p:spPr>
          <a:xfrm>
            <a:off x="710032" y="889928"/>
            <a:ext cx="42959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tabLst>
                <a:tab pos="5649913" algn="l"/>
              </a:tabLst>
            </a:pPr>
            <a:r>
              <a:rPr lang="es-AR" sz="3600" b="1" dirty="0" err="1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Basline</a:t>
            </a:r>
            <a:r>
              <a:rPr lang="es-AR" sz="36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 SIMPLE CNN</a:t>
            </a:r>
            <a:endParaRPr lang="es-AR" sz="3600" b="1" dirty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</a:endParaRPr>
          </a:p>
        </p:txBody>
      </p:sp>
      <p:sp>
        <p:nvSpPr>
          <p:cNvPr id="8" name="CuadroTexto 7"/>
          <p:cNvSpPr txBox="1"/>
          <p:nvPr/>
        </p:nvSpPr>
        <p:spPr>
          <a:xfrm>
            <a:off x="710032" y="492362"/>
            <a:ext cx="157408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AR" sz="2000" b="1" dirty="0" smtClean="0">
                <a:solidFill>
                  <a:srgbClr val="9E84C0"/>
                </a:solidFill>
                <a:latin typeface="Corbel" panose="020B0503020204020204" pitchFamily="34" charset="0"/>
              </a:rPr>
              <a:t>MODELO #1</a:t>
            </a:r>
            <a:endParaRPr lang="es-AR" sz="2000" b="1" dirty="0">
              <a:solidFill>
                <a:srgbClr val="9E84C0"/>
              </a:solidFill>
              <a:latin typeface="Corbel" panose="020B0503020204020204" pitchFamily="34" charset="0"/>
            </a:endParaRPr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032" y="2483371"/>
            <a:ext cx="11010798" cy="3670266"/>
          </a:xfrm>
          <a:prstGeom prst="rect">
            <a:avLst/>
          </a:prstGeom>
        </p:spPr>
      </p:pic>
      <p:sp>
        <p:nvSpPr>
          <p:cNvPr id="3" name="Rectángulo 2"/>
          <p:cNvSpPr/>
          <p:nvPr/>
        </p:nvSpPr>
        <p:spPr>
          <a:xfrm>
            <a:off x="710032" y="2160206"/>
            <a:ext cx="2002688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endParaRPr lang="es-ES" b="1" dirty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EPOCHS: </a:t>
            </a:r>
            <a:r>
              <a:rPr lang="es-ES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16984549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CuadroTexto 15"/>
          <p:cNvSpPr txBox="1"/>
          <p:nvPr/>
        </p:nvSpPr>
        <p:spPr>
          <a:xfrm>
            <a:off x="1289954" y="4274802"/>
            <a:ext cx="8999033" cy="13490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4900"/>
              </a:lnSpc>
              <a:defRPr/>
            </a:pPr>
            <a:r>
              <a:rPr lang="es-ES" sz="4400" b="1" dirty="0" smtClean="0">
                <a:latin typeface="Corbel" panose="020B0503020204020204" pitchFamily="34" charset="0"/>
              </a:rPr>
              <a:t>MODEL #2: SIMPLE CNN </a:t>
            </a:r>
            <a:r>
              <a:rPr lang="es-ES" sz="4400" b="1" dirty="0" err="1" smtClean="0">
                <a:latin typeface="Corbel" panose="020B0503020204020204" pitchFamily="34" charset="0"/>
              </a:rPr>
              <a:t>with</a:t>
            </a:r>
            <a:r>
              <a:rPr lang="es-ES" sz="4400" b="1" dirty="0" smtClean="0">
                <a:latin typeface="Corbel" panose="020B0503020204020204" pitchFamily="34" charset="0"/>
              </a:rPr>
              <a:t> </a:t>
            </a:r>
            <a:r>
              <a:rPr lang="es-ES" sz="4400" b="1" dirty="0" err="1" smtClean="0">
                <a:latin typeface="Corbel" panose="020B0503020204020204" pitchFamily="34" charset="0"/>
              </a:rPr>
              <a:t>RandAugmentation</a:t>
            </a:r>
            <a:endParaRPr lang="es-AR" sz="4000" b="1" dirty="0">
              <a:latin typeface="Corbel" panose="020B05030202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4054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uadroTexto 12"/>
          <p:cNvSpPr txBox="1"/>
          <p:nvPr/>
        </p:nvSpPr>
        <p:spPr>
          <a:xfrm>
            <a:off x="710032" y="1778983"/>
            <a:ext cx="80479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AR" sz="2400" b="1" dirty="0" smtClean="0">
                <a:solidFill>
                  <a:srgbClr val="2C5EA6"/>
                </a:solidFill>
                <a:latin typeface="Corbel" panose="020B0503020204020204" pitchFamily="34" charset="0"/>
              </a:rPr>
              <a:t>Data </a:t>
            </a:r>
            <a:r>
              <a:rPr lang="es-AR" sz="2400" b="1" dirty="0" err="1" smtClean="0">
                <a:solidFill>
                  <a:srgbClr val="2C5EA6"/>
                </a:solidFill>
                <a:latin typeface="Corbel" panose="020B0503020204020204" pitchFamily="34" charset="0"/>
              </a:rPr>
              <a:t>Augmentation</a:t>
            </a:r>
            <a:r>
              <a:rPr lang="es-AR" sz="2400" b="1" dirty="0" smtClean="0">
                <a:solidFill>
                  <a:srgbClr val="2C5EA6"/>
                </a:solidFill>
                <a:latin typeface="Corbel" panose="020B0503020204020204" pitchFamily="34" charset="0"/>
              </a:rPr>
              <a:t>: RAND AUGMENTATION TRANSFORM</a:t>
            </a:r>
            <a:endParaRPr lang="es-AR" sz="2400" b="1" dirty="0">
              <a:solidFill>
                <a:srgbClr val="2C5EA6"/>
              </a:solidFill>
              <a:latin typeface="Corbel" panose="020B0503020204020204" pitchFamily="34" charset="0"/>
            </a:endParaRPr>
          </a:p>
        </p:txBody>
      </p:sp>
      <p:sp>
        <p:nvSpPr>
          <p:cNvPr id="6" name="CuadroTexto 5"/>
          <p:cNvSpPr txBox="1"/>
          <p:nvPr/>
        </p:nvSpPr>
        <p:spPr>
          <a:xfrm>
            <a:off x="710032" y="889928"/>
            <a:ext cx="78744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tabLst>
                <a:tab pos="5649913" algn="l"/>
              </a:tabLst>
            </a:pPr>
            <a:r>
              <a:rPr lang="es-AR" sz="36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SIMPLE CNN </a:t>
            </a:r>
            <a:r>
              <a:rPr lang="es-AR" sz="3600" b="1" dirty="0" err="1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with</a:t>
            </a:r>
            <a:r>
              <a:rPr lang="es-AR" sz="36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 Rand </a:t>
            </a:r>
            <a:r>
              <a:rPr lang="es-AR" sz="3600" b="1" dirty="0" err="1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Augmentation</a:t>
            </a:r>
            <a:endParaRPr lang="es-AR" sz="3600" b="1" dirty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</a:endParaRPr>
          </a:p>
        </p:txBody>
      </p:sp>
      <p:sp>
        <p:nvSpPr>
          <p:cNvPr id="8" name="CuadroTexto 7"/>
          <p:cNvSpPr txBox="1"/>
          <p:nvPr/>
        </p:nvSpPr>
        <p:spPr>
          <a:xfrm>
            <a:off x="710032" y="492362"/>
            <a:ext cx="157408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AR" sz="2000" b="1" dirty="0" smtClean="0">
                <a:solidFill>
                  <a:srgbClr val="9E84C0"/>
                </a:solidFill>
                <a:latin typeface="Corbel" panose="020B0503020204020204" pitchFamily="34" charset="0"/>
              </a:rPr>
              <a:t>MODELO #2</a:t>
            </a:r>
            <a:endParaRPr lang="es-AR" sz="2000" b="1" dirty="0">
              <a:solidFill>
                <a:srgbClr val="9E84C0"/>
              </a:solidFill>
              <a:latin typeface="Corbel" panose="020B0503020204020204" pitchFamily="34" charset="0"/>
            </a:endParaRPr>
          </a:p>
        </p:txBody>
      </p:sp>
      <p:sp>
        <p:nvSpPr>
          <p:cNvPr id="34" name="CuadroTexto 33"/>
          <p:cNvSpPr txBox="1"/>
          <p:nvPr/>
        </p:nvSpPr>
        <p:spPr>
          <a:xfrm>
            <a:off x="631457" y="2374784"/>
            <a:ext cx="7108297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E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FUENTE: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s-ES" sz="1600" b="1" dirty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s-ES" sz="1600" b="1" dirty="0" smtClean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n-US" sz="1600" b="1" dirty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s-ES" sz="1600" dirty="0" smtClean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E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Procedimiento automático que aplica una serie de transformaciones pre-definidas dentro de 14. Mejor performance que otras técnicas similares.</a:t>
            </a:r>
          </a:p>
          <a:p>
            <a:pPr algn="just"/>
            <a:endParaRPr lang="es-ES" sz="1600" b="1" dirty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s-ES" sz="1600" b="1" dirty="0" smtClean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s-ES" sz="1600" b="1" dirty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s-ES" sz="1600" b="1" dirty="0" smtClean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s-ES" sz="1600" b="1" dirty="0" smtClean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2 </a:t>
            </a:r>
            <a:r>
              <a:rPr lang="es-ES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párametros</a:t>
            </a:r>
            <a:r>
              <a:rPr lang="es-E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: </a:t>
            </a:r>
            <a:r>
              <a:rPr lang="es-E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	</a:t>
            </a:r>
            <a:r>
              <a:rPr lang="es-ES" sz="16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N</a:t>
            </a:r>
            <a:r>
              <a:rPr lang="es-E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: </a:t>
            </a:r>
            <a:r>
              <a:rPr lang="es-ES" sz="16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Número </a:t>
            </a:r>
            <a:r>
              <a:rPr lang="es-E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transformaciones a aplicar secuencialmente.</a:t>
            </a:r>
          </a:p>
          <a:p>
            <a:pPr algn="just"/>
            <a:r>
              <a:rPr lang="es-ES" sz="16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		M: Magnitud </a:t>
            </a:r>
            <a:r>
              <a:rPr lang="es-E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de todas las transformaciones. </a:t>
            </a:r>
            <a:r>
              <a:rPr lang="es-ES" sz="16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			Valor entre [1, 10], donde 10 indica la máxima escala para 		una transformación dada.</a:t>
            </a:r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 rotWithShape="1">
          <a:blip r:embed="rId3"/>
          <a:srcRect l="50430" t="43332" r="20458" b="11676"/>
          <a:stretch/>
        </p:blipFill>
        <p:spPr>
          <a:xfrm>
            <a:off x="7648314" y="2374784"/>
            <a:ext cx="4452246" cy="3870267"/>
          </a:xfrm>
          <a:prstGeom prst="rect">
            <a:avLst/>
          </a:prstGeom>
        </p:spPr>
      </p:pic>
      <p:pic>
        <p:nvPicPr>
          <p:cNvPr id="3" name="Imagen 2"/>
          <p:cNvPicPr>
            <a:picLocks noChangeAspect="1"/>
          </p:cNvPicPr>
          <p:nvPr/>
        </p:nvPicPr>
        <p:blipFill rotWithShape="1">
          <a:blip r:embed="rId4"/>
          <a:srcRect l="28167" t="34148" r="24000" b="43037"/>
          <a:stretch/>
        </p:blipFill>
        <p:spPr>
          <a:xfrm>
            <a:off x="2046697" y="2446597"/>
            <a:ext cx="3948283" cy="1059296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5595" y="4161155"/>
            <a:ext cx="4520565" cy="1143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044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uadroTexto 12"/>
          <p:cNvSpPr txBox="1"/>
          <p:nvPr/>
        </p:nvSpPr>
        <p:spPr>
          <a:xfrm>
            <a:off x="710032" y="1778983"/>
            <a:ext cx="21980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AR" sz="2400" b="1" dirty="0" smtClean="0">
                <a:solidFill>
                  <a:srgbClr val="2C5EA6"/>
                </a:solidFill>
                <a:latin typeface="Corbel" panose="020B0503020204020204" pitchFamily="34" charset="0"/>
              </a:rPr>
              <a:t>Entrenamiento</a:t>
            </a:r>
            <a:endParaRPr lang="es-AR" sz="2400" b="1" dirty="0">
              <a:solidFill>
                <a:srgbClr val="2C5EA6"/>
              </a:solidFill>
              <a:latin typeface="Corbel" panose="020B0503020204020204" pitchFamily="34" charset="0"/>
            </a:endParaRPr>
          </a:p>
        </p:txBody>
      </p:sp>
      <p:sp>
        <p:nvSpPr>
          <p:cNvPr id="6" name="CuadroTexto 5"/>
          <p:cNvSpPr txBox="1"/>
          <p:nvPr/>
        </p:nvSpPr>
        <p:spPr>
          <a:xfrm>
            <a:off x="710032" y="889928"/>
            <a:ext cx="78744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tabLst>
                <a:tab pos="5649913" algn="l"/>
              </a:tabLst>
            </a:pPr>
            <a:r>
              <a:rPr lang="es-AR" sz="3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SIMPLE CNN </a:t>
            </a:r>
            <a:r>
              <a:rPr lang="es-AR" sz="36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with</a:t>
            </a:r>
            <a:r>
              <a:rPr lang="es-AR" sz="3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 Rand </a:t>
            </a:r>
            <a:r>
              <a:rPr lang="es-AR" sz="36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Augmentation</a:t>
            </a:r>
            <a:endParaRPr lang="es-AR" sz="3600" b="1" dirty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</a:endParaRPr>
          </a:p>
        </p:txBody>
      </p:sp>
      <p:sp>
        <p:nvSpPr>
          <p:cNvPr id="8" name="CuadroTexto 7"/>
          <p:cNvSpPr txBox="1"/>
          <p:nvPr/>
        </p:nvSpPr>
        <p:spPr>
          <a:xfrm>
            <a:off x="710032" y="492362"/>
            <a:ext cx="157408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AR" sz="2000" b="1" dirty="0" smtClean="0">
                <a:solidFill>
                  <a:srgbClr val="9E84C0"/>
                </a:solidFill>
                <a:latin typeface="Corbel" panose="020B0503020204020204" pitchFamily="34" charset="0"/>
              </a:rPr>
              <a:t>MODELO #2</a:t>
            </a:r>
            <a:endParaRPr lang="es-AR" sz="2000" b="1" dirty="0">
              <a:solidFill>
                <a:srgbClr val="9E84C0"/>
              </a:solidFill>
              <a:latin typeface="Corbel" panose="020B0503020204020204" pitchFamily="34" charset="0"/>
            </a:endParaRPr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032" y="2351292"/>
            <a:ext cx="11315700" cy="3771900"/>
          </a:xfrm>
          <a:prstGeom prst="rect">
            <a:avLst/>
          </a:prstGeom>
        </p:spPr>
      </p:pic>
      <p:sp>
        <p:nvSpPr>
          <p:cNvPr id="7" name="Rectángulo 6"/>
          <p:cNvSpPr/>
          <p:nvPr/>
        </p:nvSpPr>
        <p:spPr>
          <a:xfrm>
            <a:off x="710032" y="2160206"/>
            <a:ext cx="2002688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endParaRPr lang="es-ES" b="1" dirty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EPOCHS: </a:t>
            </a:r>
            <a:r>
              <a:rPr lang="es-ES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30</a:t>
            </a:r>
          </a:p>
        </p:txBody>
      </p:sp>
      <p:sp>
        <p:nvSpPr>
          <p:cNvPr id="9" name="Rectángulo 8"/>
          <p:cNvSpPr/>
          <p:nvPr/>
        </p:nvSpPr>
        <p:spPr>
          <a:xfrm>
            <a:off x="8900160" y="1213093"/>
            <a:ext cx="3125572" cy="92333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just"/>
            <a:r>
              <a:rPr lang="es-ES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OBSERVACIÓN</a:t>
            </a:r>
            <a:endParaRPr lang="es-ES" b="1" dirty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ES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REQUIERE MÁS EPOCHS QUE SIN DATA AUG.</a:t>
            </a:r>
            <a:endParaRPr lang="es-ES" b="1" dirty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95167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CuadroTexto 15"/>
          <p:cNvSpPr txBox="1"/>
          <p:nvPr/>
        </p:nvSpPr>
        <p:spPr>
          <a:xfrm>
            <a:off x="1289954" y="4274802"/>
            <a:ext cx="9804766" cy="7207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4900"/>
              </a:lnSpc>
              <a:defRPr/>
            </a:pPr>
            <a:r>
              <a:rPr lang="es-ES" sz="4400" b="1" dirty="0" smtClean="0">
                <a:latin typeface="Corbel" panose="020B0503020204020204" pitchFamily="34" charset="0"/>
              </a:rPr>
              <a:t>MODEL #3: PRE-TRAINED RESNET18</a:t>
            </a:r>
            <a:endParaRPr lang="es-AR" sz="4000" b="1" dirty="0">
              <a:latin typeface="Corbel" panose="020B05030202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03286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uadroTexto 12"/>
          <p:cNvSpPr txBox="1"/>
          <p:nvPr/>
        </p:nvSpPr>
        <p:spPr>
          <a:xfrm>
            <a:off x="710032" y="1778983"/>
            <a:ext cx="18710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AR" sz="2400" b="1" dirty="0" smtClean="0">
                <a:solidFill>
                  <a:srgbClr val="2C5EA6"/>
                </a:solidFill>
                <a:latin typeface="Corbel" panose="020B0503020204020204" pitchFamily="34" charset="0"/>
              </a:rPr>
              <a:t>Arquitectura</a:t>
            </a:r>
            <a:endParaRPr lang="es-AR" sz="2400" b="1" dirty="0">
              <a:solidFill>
                <a:srgbClr val="2C5EA6"/>
              </a:solidFill>
              <a:latin typeface="Corbel" panose="020B0503020204020204" pitchFamily="34" charset="0"/>
            </a:endParaRPr>
          </a:p>
        </p:txBody>
      </p:sp>
      <p:sp>
        <p:nvSpPr>
          <p:cNvPr id="6" name="CuadroTexto 5"/>
          <p:cNvSpPr txBox="1"/>
          <p:nvPr/>
        </p:nvSpPr>
        <p:spPr>
          <a:xfrm>
            <a:off x="710032" y="889928"/>
            <a:ext cx="53287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tabLst>
                <a:tab pos="5649913" algn="l"/>
              </a:tabLst>
            </a:pPr>
            <a:r>
              <a:rPr lang="es-AR" sz="36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PRE-TRAINED RESNET18</a:t>
            </a:r>
            <a:endParaRPr lang="es-AR" sz="3600" b="1" dirty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</a:endParaRPr>
          </a:p>
        </p:txBody>
      </p:sp>
      <p:sp>
        <p:nvSpPr>
          <p:cNvPr id="8" name="CuadroTexto 7"/>
          <p:cNvSpPr txBox="1"/>
          <p:nvPr/>
        </p:nvSpPr>
        <p:spPr>
          <a:xfrm>
            <a:off x="710032" y="492362"/>
            <a:ext cx="157408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AR" sz="2000" b="1" dirty="0" smtClean="0">
                <a:solidFill>
                  <a:srgbClr val="9E84C0"/>
                </a:solidFill>
                <a:latin typeface="Corbel" panose="020B0503020204020204" pitchFamily="34" charset="0"/>
              </a:rPr>
              <a:t>MODELO #3</a:t>
            </a:r>
            <a:endParaRPr lang="es-AR" sz="2000" b="1" dirty="0">
              <a:solidFill>
                <a:srgbClr val="9E84C0"/>
              </a:solidFill>
              <a:latin typeface="Corbel" panose="020B0503020204020204" pitchFamily="34" charset="0"/>
            </a:endParaRPr>
          </a:p>
        </p:txBody>
      </p:sp>
      <p:sp>
        <p:nvSpPr>
          <p:cNvPr id="25" name="Rectángulo 24"/>
          <p:cNvSpPr/>
          <p:nvPr/>
        </p:nvSpPr>
        <p:spPr>
          <a:xfrm>
            <a:off x="9404609" y="2802739"/>
            <a:ext cx="1672886" cy="812800"/>
          </a:xfrm>
          <a:prstGeom prst="rect">
            <a:avLst/>
          </a:prstGeom>
          <a:solidFill>
            <a:srgbClr val="92D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600" dirty="0" smtClean="0"/>
              <a:t>CLASSIFICATION  HEAD </a:t>
            </a:r>
            <a:r>
              <a:rPr lang="es-ES" sz="1600" dirty="0" smtClean="0">
                <a:solidFill>
                  <a:schemeClr val="tx1"/>
                </a:solidFill>
              </a:rPr>
              <a:t>OUTPUT1</a:t>
            </a:r>
            <a:endParaRPr lang="es-ES" sz="1600" dirty="0">
              <a:solidFill>
                <a:schemeClr val="tx1"/>
              </a:solidFill>
            </a:endParaRPr>
          </a:p>
        </p:txBody>
      </p:sp>
      <p:cxnSp>
        <p:nvCxnSpPr>
          <p:cNvPr id="28" name="Conector angular 27"/>
          <p:cNvCxnSpPr>
            <a:endCxn id="25" idx="1"/>
          </p:cNvCxnSpPr>
          <p:nvPr/>
        </p:nvCxnSpPr>
        <p:spPr>
          <a:xfrm flipV="1">
            <a:off x="8916929" y="3209139"/>
            <a:ext cx="487680" cy="708934"/>
          </a:xfrm>
          <a:prstGeom prst="bentConnector3">
            <a:avLst/>
          </a:prstGeom>
          <a:ln>
            <a:solidFill>
              <a:schemeClr val="accent3">
                <a:lumMod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ector angular 29"/>
          <p:cNvCxnSpPr/>
          <p:nvPr/>
        </p:nvCxnSpPr>
        <p:spPr>
          <a:xfrm>
            <a:off x="8916929" y="3918073"/>
            <a:ext cx="487680" cy="444796"/>
          </a:xfrm>
          <a:prstGeom prst="bentConnector3">
            <a:avLst/>
          </a:prstGeom>
          <a:ln>
            <a:solidFill>
              <a:schemeClr val="accent3">
                <a:lumMod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CuadroTexto 33"/>
          <p:cNvSpPr txBox="1"/>
          <p:nvPr/>
        </p:nvSpPr>
        <p:spPr>
          <a:xfrm>
            <a:off x="682257" y="5073102"/>
            <a:ext cx="535647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E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PARÁMETROS TOTALES: </a:t>
            </a:r>
            <a:r>
              <a:rPr lang="es-ES" sz="16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11,184,207</a:t>
            </a:r>
            <a:endParaRPr lang="es-ES" sz="1600" dirty="0" smtClean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E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PARÁMETROS ENTRENABLES: </a:t>
            </a:r>
            <a:r>
              <a:rPr lang="es-ES" sz="16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7,695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E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PARÁMETROS NO-ENTRENABLES: </a:t>
            </a:r>
            <a:r>
              <a:rPr lang="es-ES" sz="16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11,176,512</a:t>
            </a:r>
          </a:p>
          <a:p>
            <a:pPr algn="just"/>
            <a:endParaRPr lang="en-US" sz="1600" dirty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</a:endParaRPr>
          </a:p>
        </p:txBody>
      </p:sp>
      <p:sp>
        <p:nvSpPr>
          <p:cNvPr id="35" name="Rectángulo 34"/>
          <p:cNvSpPr/>
          <p:nvPr/>
        </p:nvSpPr>
        <p:spPr>
          <a:xfrm>
            <a:off x="9404609" y="4033562"/>
            <a:ext cx="1672886" cy="812800"/>
          </a:xfrm>
          <a:prstGeom prst="rect">
            <a:avLst/>
          </a:prstGeom>
          <a:solidFill>
            <a:srgbClr val="92D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600" dirty="0" smtClean="0"/>
              <a:t>CLASSIFICATION  HEAD </a:t>
            </a:r>
            <a:r>
              <a:rPr lang="es-ES" sz="1600" dirty="0" smtClean="0">
                <a:solidFill>
                  <a:schemeClr val="tx1"/>
                </a:solidFill>
              </a:rPr>
              <a:t>OUTPUT2</a:t>
            </a:r>
            <a:endParaRPr lang="es-ES" sz="1600" dirty="0">
              <a:solidFill>
                <a:schemeClr val="tx1"/>
              </a:solidFill>
            </a:endParaRPr>
          </a:p>
        </p:txBody>
      </p:sp>
      <p:pic>
        <p:nvPicPr>
          <p:cNvPr id="1028" name="Picture 4" descr="Original ResNet-18 Architecture | Download Scientific Diagram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0063"/>
          <a:stretch/>
        </p:blipFill>
        <p:spPr bwMode="auto">
          <a:xfrm>
            <a:off x="1676024" y="2473212"/>
            <a:ext cx="7281545" cy="21812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383142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295" y="2483371"/>
            <a:ext cx="11325225" cy="3771900"/>
          </a:xfrm>
          <a:prstGeom prst="rect">
            <a:avLst/>
          </a:prstGeom>
        </p:spPr>
      </p:pic>
      <p:sp>
        <p:nvSpPr>
          <p:cNvPr id="13" name="CuadroTexto 12"/>
          <p:cNvSpPr txBox="1"/>
          <p:nvPr/>
        </p:nvSpPr>
        <p:spPr>
          <a:xfrm>
            <a:off x="710032" y="1778983"/>
            <a:ext cx="21980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AR" sz="2400" b="1" dirty="0" smtClean="0">
                <a:solidFill>
                  <a:srgbClr val="2C5EA6"/>
                </a:solidFill>
                <a:latin typeface="Corbel" panose="020B0503020204020204" pitchFamily="34" charset="0"/>
              </a:rPr>
              <a:t>Entrenamiento</a:t>
            </a:r>
            <a:endParaRPr lang="es-AR" sz="2400" b="1" dirty="0">
              <a:solidFill>
                <a:srgbClr val="2C5EA6"/>
              </a:solidFill>
              <a:latin typeface="Corbel" panose="020B0503020204020204" pitchFamily="34" charset="0"/>
            </a:endParaRPr>
          </a:p>
        </p:txBody>
      </p:sp>
      <p:sp>
        <p:nvSpPr>
          <p:cNvPr id="6" name="CuadroTexto 5"/>
          <p:cNvSpPr txBox="1"/>
          <p:nvPr/>
        </p:nvSpPr>
        <p:spPr>
          <a:xfrm>
            <a:off x="710032" y="889928"/>
            <a:ext cx="53287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tabLst>
                <a:tab pos="5649913" algn="l"/>
              </a:tabLst>
            </a:pPr>
            <a:r>
              <a:rPr lang="es-AR" sz="3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PRE-TRAINED RESNET18</a:t>
            </a:r>
          </a:p>
        </p:txBody>
      </p:sp>
      <p:sp>
        <p:nvSpPr>
          <p:cNvPr id="8" name="CuadroTexto 7"/>
          <p:cNvSpPr txBox="1"/>
          <p:nvPr/>
        </p:nvSpPr>
        <p:spPr>
          <a:xfrm>
            <a:off x="710032" y="492362"/>
            <a:ext cx="157408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AR" sz="2000" b="1" dirty="0" smtClean="0">
                <a:solidFill>
                  <a:srgbClr val="9E84C0"/>
                </a:solidFill>
                <a:latin typeface="Corbel" panose="020B0503020204020204" pitchFamily="34" charset="0"/>
              </a:rPr>
              <a:t>MODELO #3</a:t>
            </a:r>
            <a:endParaRPr lang="es-AR" sz="2000" b="1" dirty="0">
              <a:solidFill>
                <a:srgbClr val="9E84C0"/>
              </a:solidFill>
              <a:latin typeface="Corbel" panose="020B0503020204020204" pitchFamily="34" charset="0"/>
            </a:endParaRPr>
          </a:p>
        </p:txBody>
      </p:sp>
      <p:sp>
        <p:nvSpPr>
          <p:cNvPr id="3" name="Rectángulo 2"/>
          <p:cNvSpPr/>
          <p:nvPr/>
        </p:nvSpPr>
        <p:spPr>
          <a:xfrm>
            <a:off x="710032" y="2160206"/>
            <a:ext cx="2002688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endParaRPr lang="es-ES" b="1" dirty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EPOCHS: </a:t>
            </a:r>
            <a:r>
              <a:rPr lang="es-ES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5</a:t>
            </a:r>
            <a:endParaRPr lang="es-ES" b="1" dirty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45306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CuadroTexto 15"/>
          <p:cNvSpPr txBox="1"/>
          <p:nvPr/>
        </p:nvSpPr>
        <p:spPr>
          <a:xfrm>
            <a:off x="1289954" y="4274802"/>
            <a:ext cx="10434686" cy="7207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4900"/>
              </a:lnSpc>
              <a:defRPr/>
            </a:pPr>
            <a:r>
              <a:rPr lang="es-ES" sz="4400" b="1" dirty="0" smtClean="0">
                <a:latin typeface="Corbel" panose="020B0503020204020204" pitchFamily="34" charset="0"/>
              </a:rPr>
              <a:t>MODEL #4: RESNET18 FROM SCRATCH</a:t>
            </a:r>
            <a:endParaRPr lang="es-AR" sz="4000" b="1" dirty="0">
              <a:latin typeface="Corbel" panose="020B05030202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08882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228" y="2711450"/>
            <a:ext cx="11325225" cy="3771900"/>
          </a:xfrm>
          <a:prstGeom prst="rect">
            <a:avLst/>
          </a:prstGeom>
        </p:spPr>
      </p:pic>
      <p:sp>
        <p:nvSpPr>
          <p:cNvPr id="6" name="CuadroTexto 5"/>
          <p:cNvSpPr txBox="1"/>
          <p:nvPr/>
        </p:nvSpPr>
        <p:spPr>
          <a:xfrm>
            <a:off x="710032" y="889928"/>
            <a:ext cx="54368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tabLst>
                <a:tab pos="5649913" algn="l"/>
              </a:tabLst>
            </a:pPr>
            <a:r>
              <a:rPr lang="es-AR" sz="36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RESNET18 </a:t>
            </a:r>
            <a:r>
              <a:rPr lang="es-AR" sz="3600" b="1" dirty="0" err="1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from</a:t>
            </a:r>
            <a:r>
              <a:rPr lang="es-AR" sz="36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 SCRATCH</a:t>
            </a:r>
            <a:endParaRPr lang="es-AR" sz="3600" b="1" dirty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</a:endParaRPr>
          </a:p>
        </p:txBody>
      </p:sp>
      <p:sp>
        <p:nvSpPr>
          <p:cNvPr id="8" name="CuadroTexto 7"/>
          <p:cNvSpPr txBox="1"/>
          <p:nvPr/>
        </p:nvSpPr>
        <p:spPr>
          <a:xfrm>
            <a:off x="710032" y="492362"/>
            <a:ext cx="157408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AR" sz="2000" b="1" dirty="0" smtClean="0">
                <a:solidFill>
                  <a:srgbClr val="9E84C0"/>
                </a:solidFill>
                <a:latin typeface="Corbel" panose="020B0503020204020204" pitchFamily="34" charset="0"/>
              </a:rPr>
              <a:t>MODELO #4</a:t>
            </a:r>
            <a:endParaRPr lang="es-AR" sz="2000" b="1" dirty="0">
              <a:solidFill>
                <a:srgbClr val="9E84C0"/>
              </a:solidFill>
              <a:latin typeface="Corbel" panose="020B0503020204020204" pitchFamily="34" charset="0"/>
            </a:endParaRPr>
          </a:p>
        </p:txBody>
      </p:sp>
      <p:sp>
        <p:nvSpPr>
          <p:cNvPr id="34" name="CuadroTexto 33"/>
          <p:cNvSpPr txBox="1"/>
          <p:nvPr/>
        </p:nvSpPr>
        <p:spPr>
          <a:xfrm>
            <a:off x="814337" y="2415424"/>
            <a:ext cx="4323695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ES" sz="1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PARÁMETROS ENTRENABLES: </a:t>
            </a:r>
            <a:r>
              <a:rPr lang="es-ES" sz="16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11,184,207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EPOCHS: </a:t>
            </a:r>
            <a:r>
              <a:rPr lang="es-E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5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s-ES" sz="1600" dirty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</a:endParaRPr>
          </a:p>
          <a:p>
            <a:pPr algn="just"/>
            <a:endParaRPr lang="en-US" sz="1600" dirty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</a:endParaRPr>
          </a:p>
        </p:txBody>
      </p:sp>
      <p:sp>
        <p:nvSpPr>
          <p:cNvPr id="26" name="CuadroTexto 25"/>
          <p:cNvSpPr txBox="1"/>
          <p:nvPr/>
        </p:nvSpPr>
        <p:spPr>
          <a:xfrm>
            <a:off x="710032" y="1778983"/>
            <a:ext cx="21980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AR" sz="2400" b="1" dirty="0" smtClean="0">
                <a:solidFill>
                  <a:srgbClr val="2C5EA6"/>
                </a:solidFill>
                <a:latin typeface="Corbel" panose="020B0503020204020204" pitchFamily="34" charset="0"/>
              </a:rPr>
              <a:t>Entrenamiento</a:t>
            </a:r>
            <a:endParaRPr lang="es-AR" sz="2400" b="1" dirty="0">
              <a:solidFill>
                <a:srgbClr val="2C5EA6"/>
              </a:solidFill>
              <a:latin typeface="Corbel" panose="020B05030202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5048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CuadroTexto 15"/>
          <p:cNvSpPr txBox="1"/>
          <p:nvPr/>
        </p:nvSpPr>
        <p:spPr>
          <a:xfrm>
            <a:off x="1289954" y="4274802"/>
            <a:ext cx="10434686" cy="13490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4900"/>
              </a:lnSpc>
              <a:defRPr/>
            </a:pPr>
            <a:r>
              <a:rPr lang="es-ES" sz="4400" b="1" dirty="0" smtClean="0">
                <a:latin typeface="Corbel" panose="020B0503020204020204" pitchFamily="34" charset="0"/>
              </a:rPr>
              <a:t>COMPARACIÓN DE MODELOS y EVALUACIÓN DE PERFORMANCE</a:t>
            </a:r>
            <a:endParaRPr lang="es-AR" sz="4000" b="1" dirty="0">
              <a:latin typeface="Corbel" panose="020B05030202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592639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CuadroTexto 24"/>
          <p:cNvSpPr txBox="1"/>
          <p:nvPr/>
        </p:nvSpPr>
        <p:spPr>
          <a:xfrm>
            <a:off x="710032" y="889928"/>
            <a:ext cx="499534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tabLst>
                <a:tab pos="5649913" algn="l"/>
              </a:tabLst>
            </a:pPr>
            <a:r>
              <a:rPr lang="es-AR" sz="3600" b="1" dirty="0" smtClean="0">
                <a:latin typeface="Corbel" panose="020B0503020204020204" pitchFamily="34" charset="0"/>
              </a:rPr>
              <a:t>Evaluación sobre el Test </a:t>
            </a:r>
            <a:endParaRPr lang="es-AR" sz="3600" b="1" dirty="0">
              <a:latin typeface="Corbel" panose="020B0503020204020204" pitchFamily="34" charset="0"/>
            </a:endParaRPr>
          </a:p>
        </p:txBody>
      </p:sp>
      <p:sp>
        <p:nvSpPr>
          <p:cNvPr id="26" name="CuadroTexto 25"/>
          <p:cNvSpPr txBox="1"/>
          <p:nvPr/>
        </p:nvSpPr>
        <p:spPr>
          <a:xfrm>
            <a:off x="710032" y="492362"/>
            <a:ext cx="29835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AR" sz="2000" b="1" dirty="0" smtClean="0">
                <a:solidFill>
                  <a:srgbClr val="9D83BF"/>
                </a:solidFill>
                <a:latin typeface="Corbel" panose="020B0503020204020204" pitchFamily="34" charset="0"/>
              </a:rPr>
              <a:t>Comparación de modelos</a:t>
            </a:r>
            <a:endParaRPr lang="es-AR" sz="2000" b="1" dirty="0">
              <a:solidFill>
                <a:srgbClr val="9D83BF"/>
              </a:solidFill>
              <a:latin typeface="Corbel" panose="020B0503020204020204" pitchFamily="34" charset="0"/>
            </a:endParaRPr>
          </a:p>
        </p:txBody>
      </p:sp>
      <p:graphicFrame>
        <p:nvGraphicFramePr>
          <p:cNvPr id="28" name="Google Shape;189;p28"/>
          <p:cNvGraphicFramePr/>
          <p:nvPr>
            <p:extLst>
              <p:ext uri="{D42A27DB-BD31-4B8C-83A1-F6EECF244321}">
                <p14:modId xmlns:p14="http://schemas.microsoft.com/office/powerpoint/2010/main" val="4224295127"/>
              </p:ext>
            </p:extLst>
          </p:nvPr>
        </p:nvGraphicFramePr>
        <p:xfrm>
          <a:off x="1491308" y="2162655"/>
          <a:ext cx="9072882" cy="350514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883919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412240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1178560"/>
                <a:gridCol w="1503680"/>
                <a:gridCol w="1502231"/>
                <a:gridCol w="1296126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1296126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312415">
                <a:tc rowSpan="2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chemeClr val="dk2"/>
                        </a:solidFill>
                        <a:latin typeface="+mn-lt"/>
                        <a:ea typeface="Open Sans Light"/>
                        <a:cs typeface="Open Sans Light"/>
                        <a:sym typeface="Open Sans Light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row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dk2"/>
                          </a:solidFill>
                          <a:latin typeface="+mn-lt"/>
                          <a:ea typeface="Open Sans Light"/>
                          <a:cs typeface="Open Sans Light"/>
                          <a:sym typeface="Open Sans Light"/>
                        </a:rPr>
                        <a:t>MODELO</a:t>
                      </a:r>
                      <a:endParaRPr sz="1600" dirty="0">
                        <a:solidFill>
                          <a:schemeClr val="dk2"/>
                        </a:solidFill>
                        <a:latin typeface="+mn-lt"/>
                        <a:ea typeface="Open Sans Light"/>
                        <a:cs typeface="Open Sans Light"/>
                        <a:sym typeface="Open Sans Light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row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 smtClean="0">
                          <a:solidFill>
                            <a:schemeClr val="dk2"/>
                          </a:solidFill>
                          <a:latin typeface="+mn-lt"/>
                          <a:ea typeface="Open Sans Light"/>
                          <a:cs typeface="Open Sans Light"/>
                          <a:sym typeface="Open Sans Light"/>
                        </a:rPr>
                        <a:t>EPOCHS</a:t>
                      </a:r>
                      <a:endParaRPr sz="1600" dirty="0">
                        <a:solidFill>
                          <a:schemeClr val="dk2"/>
                        </a:solidFill>
                        <a:latin typeface="+mn-lt"/>
                        <a:ea typeface="Open Sans Light"/>
                        <a:cs typeface="Open Sans Light"/>
                        <a:sym typeface="Open Sans Light"/>
                      </a:endParaRPr>
                    </a:p>
                  </a:txBody>
                  <a:tcPr marL="91425" marR="91425" marT="68575" marB="68575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row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 smtClean="0">
                          <a:solidFill>
                            <a:schemeClr val="dk2"/>
                          </a:solidFill>
                          <a:latin typeface="+mn-lt"/>
                          <a:ea typeface="Open Sans Light"/>
                          <a:cs typeface="Open Sans Light"/>
                          <a:sym typeface="Open Sans Light"/>
                        </a:rPr>
                        <a:t>Parámetros</a:t>
                      </a:r>
                      <a:r>
                        <a:rPr lang="es-ES" sz="1600" baseline="0" dirty="0" smtClean="0">
                          <a:solidFill>
                            <a:schemeClr val="dk2"/>
                          </a:solidFill>
                          <a:latin typeface="+mn-lt"/>
                          <a:ea typeface="Open Sans Light"/>
                          <a:cs typeface="Open Sans Light"/>
                          <a:sym typeface="Open Sans Light"/>
                        </a:rPr>
                        <a:t> </a:t>
                      </a:r>
                      <a:r>
                        <a:rPr lang="es-ES" sz="1600" baseline="0" dirty="0" err="1" smtClean="0">
                          <a:solidFill>
                            <a:schemeClr val="dk2"/>
                          </a:solidFill>
                          <a:latin typeface="+mn-lt"/>
                          <a:ea typeface="Open Sans Light"/>
                          <a:cs typeface="Open Sans Light"/>
                          <a:sym typeface="Open Sans Light"/>
                        </a:rPr>
                        <a:t>entrenables</a:t>
                      </a:r>
                      <a:endParaRPr sz="1600" dirty="0">
                        <a:solidFill>
                          <a:schemeClr val="dk2"/>
                        </a:solidFill>
                        <a:latin typeface="+mn-lt"/>
                        <a:ea typeface="Open Sans Light"/>
                        <a:cs typeface="Open Sans Light"/>
                        <a:sym typeface="Open Sans Light"/>
                      </a:endParaRPr>
                    </a:p>
                  </a:txBody>
                  <a:tcPr marL="91425" marR="91425" marT="68575" marB="68575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row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 err="1" smtClean="0">
                          <a:solidFill>
                            <a:schemeClr val="dk2"/>
                          </a:solidFill>
                          <a:latin typeface="+mn-lt"/>
                          <a:ea typeface="Open Sans Light"/>
                          <a:cs typeface="Open Sans Light"/>
                          <a:sym typeface="Open Sans Light"/>
                        </a:rPr>
                        <a:t>Loss</a:t>
                      </a:r>
                      <a:endParaRPr sz="1600" dirty="0">
                        <a:solidFill>
                          <a:schemeClr val="dk2"/>
                        </a:solidFill>
                        <a:latin typeface="+mn-lt"/>
                        <a:ea typeface="Open Sans Light"/>
                        <a:cs typeface="Open Sans Light"/>
                        <a:sym typeface="Open Sans Light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 smtClean="0">
                          <a:solidFill>
                            <a:schemeClr val="dk2"/>
                          </a:solidFill>
                          <a:latin typeface="+mn-lt"/>
                          <a:ea typeface="Open Sans Light"/>
                          <a:cs typeface="Open Sans Light"/>
                          <a:sym typeface="Open Sans Light"/>
                        </a:rPr>
                        <a:t>F1-score</a:t>
                      </a:r>
                      <a:endParaRPr sz="1600" dirty="0">
                        <a:solidFill>
                          <a:schemeClr val="dk2"/>
                        </a:solidFill>
                        <a:latin typeface="+mn-lt"/>
                        <a:ea typeface="Open Sans Light"/>
                        <a:cs typeface="Open Sans Light"/>
                        <a:sym typeface="Open Sans Light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chemeClr val="dk2"/>
                        </a:solidFill>
                        <a:latin typeface="+mn-lt"/>
                        <a:ea typeface="Open Sans Light"/>
                        <a:cs typeface="Open Sans Light"/>
                        <a:sym typeface="Open Sans Light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312415">
                <a:tc v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dk2"/>
                          </a:solidFill>
                          <a:latin typeface="+mn-lt"/>
                          <a:ea typeface="Open Sans Light"/>
                          <a:cs typeface="Open Sans Light"/>
                          <a:sym typeface="Open Sans Light"/>
                        </a:rPr>
                        <a:t>PLANT</a:t>
                      </a:r>
                      <a:r>
                        <a:rPr lang="en" sz="1600" baseline="0" dirty="0" smtClean="0">
                          <a:solidFill>
                            <a:schemeClr val="dk2"/>
                          </a:solidFill>
                          <a:latin typeface="+mn-lt"/>
                          <a:ea typeface="Open Sans Light"/>
                          <a:cs typeface="Open Sans Light"/>
                          <a:sym typeface="Open Sans Light"/>
                        </a:rPr>
                        <a:t> SPECIES</a:t>
                      </a:r>
                      <a:endParaRPr sz="1600" dirty="0">
                        <a:solidFill>
                          <a:schemeClr val="dk2"/>
                        </a:solidFill>
                        <a:latin typeface="+mn-lt"/>
                        <a:ea typeface="Open Sans Light"/>
                        <a:cs typeface="Open Sans Light"/>
                        <a:sym typeface="Open Sans Light"/>
                      </a:endParaRPr>
                    </a:p>
                  </a:txBody>
                  <a:tcPr marL="91425" marR="91425" marT="68575" marB="68575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dk2"/>
                          </a:solidFill>
                          <a:latin typeface="+mn-lt"/>
                          <a:ea typeface="Open Sans Light"/>
                          <a:cs typeface="Open Sans Light"/>
                          <a:sym typeface="Open Sans Light"/>
                        </a:rPr>
                        <a:t>HEALTH STATUS</a:t>
                      </a:r>
                      <a:endParaRPr sz="1600" dirty="0">
                        <a:solidFill>
                          <a:schemeClr val="dk2"/>
                        </a:solidFill>
                        <a:latin typeface="+mn-lt"/>
                        <a:ea typeface="Open Sans Light"/>
                        <a:cs typeface="Open Sans Light"/>
                        <a:sym typeface="Open Sans Light"/>
                      </a:endParaRPr>
                    </a:p>
                  </a:txBody>
                  <a:tcPr marL="91425" marR="91425" marT="68575" marB="68575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5812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dk2"/>
                          </a:solidFill>
                          <a:latin typeface="+mn-lt"/>
                          <a:ea typeface="Open Sans Light"/>
                          <a:cs typeface="Open Sans Light"/>
                          <a:sym typeface="Open Sans Light"/>
                        </a:rPr>
                        <a:t>#1</a:t>
                      </a:r>
                      <a:endParaRPr sz="1600" dirty="0">
                        <a:solidFill>
                          <a:schemeClr val="dk2"/>
                        </a:solidFill>
                        <a:latin typeface="+mn-lt"/>
                        <a:ea typeface="Open Sans Light"/>
                        <a:cs typeface="Open Sans Light"/>
                        <a:sym typeface="Open Sans Light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dk1"/>
                          </a:solidFill>
                          <a:latin typeface="+mn-lt"/>
                          <a:ea typeface="Open Sans"/>
                          <a:cs typeface="Open Sans"/>
                          <a:sym typeface="Open Sans"/>
                        </a:rPr>
                        <a:t>Baseline Simple</a:t>
                      </a:r>
                      <a:r>
                        <a:rPr lang="en" sz="1600" b="1" baseline="0" dirty="0" smtClean="0">
                          <a:solidFill>
                            <a:schemeClr val="dk1"/>
                          </a:solidFill>
                          <a:latin typeface="+mn-lt"/>
                          <a:ea typeface="Open Sans"/>
                          <a:cs typeface="Open Sans"/>
                          <a:sym typeface="Open Sans"/>
                        </a:rPr>
                        <a:t> CNN</a:t>
                      </a:r>
                      <a:endParaRPr sz="1600" b="1" dirty="0">
                        <a:solidFill>
                          <a:schemeClr val="dk1"/>
                        </a:solidFill>
                        <a:latin typeface="+mn-lt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kern="1200" dirty="0" smtClean="0">
                          <a:solidFill>
                            <a:schemeClr val="dk1"/>
                          </a:solidFill>
                          <a:latin typeface="+mn-lt"/>
                          <a:ea typeface="Open Sans"/>
                          <a:cs typeface="Open Sans"/>
                        </a:rPr>
                        <a:t>30</a:t>
                      </a:r>
                    </a:p>
                  </a:txBody>
                  <a:tcPr marL="91425" marR="91425" marT="68575" marB="68575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600" b="1" kern="1200" dirty="0" smtClean="0">
                          <a:solidFill>
                            <a:schemeClr val="dk1"/>
                          </a:solidFill>
                          <a:latin typeface="+mn-lt"/>
                          <a:ea typeface="Open Sans"/>
                          <a:cs typeface="Open Sans"/>
                        </a:rPr>
                        <a:t>189,751</a:t>
                      </a:r>
                      <a:endParaRPr lang="en-US" sz="1600" b="1" kern="1200" dirty="0" smtClean="0">
                        <a:solidFill>
                          <a:schemeClr val="dk1"/>
                        </a:solidFill>
                        <a:latin typeface="+mn-lt"/>
                        <a:ea typeface="Open Sans"/>
                        <a:cs typeface="Open Sans"/>
                      </a:endParaRPr>
                    </a:p>
                  </a:txBody>
                  <a:tcPr marL="91425" marR="91425" marT="68575" marB="68575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1.562</a:t>
                      </a:r>
                      <a:endParaRPr sz="1600" b="1" dirty="0">
                        <a:solidFill>
                          <a:schemeClr val="dk1"/>
                        </a:solidFill>
                        <a:latin typeface="+mn-lt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0.6148 </a:t>
                      </a:r>
                      <a:endParaRPr sz="1600" b="1" dirty="0">
                        <a:solidFill>
                          <a:schemeClr val="dk1"/>
                        </a:solidFill>
                        <a:latin typeface="+mn-lt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0.7891</a:t>
                      </a:r>
                      <a:endParaRPr sz="1600" b="1" dirty="0">
                        <a:solidFill>
                          <a:schemeClr val="dk1"/>
                        </a:solidFill>
                        <a:latin typeface="+mn-lt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58122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600" dirty="0" smtClean="0">
                          <a:solidFill>
                            <a:schemeClr val="dk2"/>
                          </a:solidFill>
                          <a:latin typeface="+mn-lt"/>
                          <a:ea typeface="Open Sans Light"/>
                          <a:cs typeface="Open Sans Light"/>
                          <a:sym typeface="Open Sans Light"/>
                        </a:rPr>
                        <a:t>#2</a:t>
                      </a: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dk1"/>
                          </a:solidFill>
                          <a:latin typeface="+mn-lt"/>
                          <a:ea typeface="Open Sans"/>
                          <a:cs typeface="Open Sans"/>
                          <a:sym typeface="Open Sans"/>
                        </a:rPr>
                        <a:t>Simple CNN w/RA</a:t>
                      </a:r>
                      <a:endParaRPr sz="1600" b="1" dirty="0">
                        <a:solidFill>
                          <a:schemeClr val="dk1"/>
                        </a:solidFill>
                        <a:latin typeface="+mn-lt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 smtClean="0">
                          <a:solidFill>
                            <a:schemeClr val="dk1"/>
                          </a:solidFill>
                          <a:latin typeface="+mn-lt"/>
                          <a:ea typeface="Open Sans"/>
                          <a:cs typeface="Open Sans"/>
                          <a:sym typeface="Open Sans"/>
                        </a:rPr>
                        <a:t>30</a:t>
                      </a:r>
                      <a:endParaRPr sz="1600" b="1" dirty="0">
                        <a:solidFill>
                          <a:schemeClr val="dk1"/>
                        </a:solidFill>
                        <a:latin typeface="+mn-lt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68575" marB="68575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600" b="1" kern="1200" dirty="0" smtClean="0">
                          <a:solidFill>
                            <a:schemeClr val="dk1"/>
                          </a:solidFill>
                          <a:latin typeface="+mn-lt"/>
                          <a:ea typeface="Open Sans"/>
                          <a:cs typeface="Open Sans"/>
                        </a:rPr>
                        <a:t>189,751</a:t>
                      </a:r>
                      <a:endParaRPr lang="en-US" sz="1600" b="1" kern="1200" dirty="0" smtClean="0">
                        <a:solidFill>
                          <a:schemeClr val="dk1"/>
                        </a:solidFill>
                        <a:latin typeface="+mn-lt"/>
                        <a:ea typeface="Open Sans"/>
                        <a:cs typeface="Open Sans"/>
                      </a:endParaRPr>
                    </a:p>
                  </a:txBody>
                  <a:tcPr marL="91425" marR="91425" marT="68575" marB="68575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1.366</a:t>
                      </a:r>
                      <a:endParaRPr sz="1600" b="1" dirty="0">
                        <a:solidFill>
                          <a:schemeClr val="dk1"/>
                        </a:solidFill>
                        <a:latin typeface="+mn-lt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 smtClean="0">
                          <a:effectLst/>
                        </a:rPr>
                        <a:t>0.674</a:t>
                      </a:r>
                      <a:endParaRPr lang="es-ES" dirty="0">
                        <a:effectLst/>
                      </a:endParaRPr>
                    </a:p>
                  </a:txBody>
                  <a:tcPr marL="60960" marR="60960" marT="30480" marB="30480" anchor="ctr">
                    <a:lnL w="9525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 smtClean="0">
                          <a:effectLst/>
                        </a:rPr>
                        <a:t>0.801</a:t>
                      </a:r>
                      <a:endParaRPr lang="es-ES" dirty="0">
                        <a:effectLst/>
                      </a:endParaRPr>
                    </a:p>
                  </a:txBody>
                  <a:tcPr marL="60960" marR="60960" marT="30480" marB="30480" anchor="ctr">
                    <a:lnL w="9525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58122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600" dirty="0" smtClean="0">
                          <a:solidFill>
                            <a:schemeClr val="dk2"/>
                          </a:solidFill>
                          <a:latin typeface="+mn-lt"/>
                          <a:ea typeface="Open Sans Light"/>
                          <a:cs typeface="Open Sans Light"/>
                          <a:sym typeface="Open Sans Light"/>
                        </a:rPr>
                        <a:t>#3</a:t>
                      </a: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dk1"/>
                          </a:solidFill>
                          <a:latin typeface="+mn-lt"/>
                          <a:ea typeface="Open Sans"/>
                          <a:cs typeface="Open Sans"/>
                          <a:sym typeface="Open Sans"/>
                        </a:rPr>
                        <a:t>RESNET18 pretrained</a:t>
                      </a:r>
                      <a:endParaRPr sz="1600" b="1" dirty="0">
                        <a:solidFill>
                          <a:schemeClr val="dk1"/>
                        </a:solidFill>
                        <a:latin typeface="+mn-lt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 smtClean="0">
                          <a:solidFill>
                            <a:schemeClr val="dk1"/>
                          </a:solidFill>
                          <a:latin typeface="+mn-lt"/>
                          <a:ea typeface="Open Sans"/>
                          <a:cs typeface="Open Sans"/>
                          <a:sym typeface="Open Sans"/>
                        </a:rPr>
                        <a:t>5</a:t>
                      </a:r>
                      <a:endParaRPr sz="1600" b="1" dirty="0">
                        <a:solidFill>
                          <a:schemeClr val="dk1"/>
                        </a:solidFill>
                        <a:latin typeface="+mn-lt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68575" marB="68575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600" b="1" kern="1200" dirty="0" smtClean="0">
                          <a:solidFill>
                            <a:schemeClr val="dk1"/>
                          </a:solidFill>
                          <a:latin typeface="+mn-lt"/>
                          <a:ea typeface="Open Sans"/>
                          <a:cs typeface="Open Sans"/>
                        </a:rPr>
                        <a:t>7,695</a:t>
                      </a:r>
                    </a:p>
                  </a:txBody>
                  <a:tcPr marL="91425" marR="91425" marT="68575" marB="68575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0.564</a:t>
                      </a:r>
                      <a:endParaRPr sz="1600" b="1" dirty="0">
                        <a:solidFill>
                          <a:schemeClr val="dk1"/>
                        </a:solidFill>
                        <a:latin typeface="+mn-lt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 smtClean="0">
                          <a:effectLst/>
                        </a:rPr>
                        <a:t>0.931</a:t>
                      </a:r>
                      <a:endParaRPr lang="es-ES" dirty="0">
                        <a:effectLst/>
                      </a:endParaRPr>
                    </a:p>
                  </a:txBody>
                  <a:tcPr marL="60960" marR="60960" marT="30480" marB="30480" anchor="ctr">
                    <a:lnL w="9525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 smtClean="0">
                          <a:effectLst/>
                        </a:rPr>
                        <a:t>0.917</a:t>
                      </a:r>
                      <a:endParaRPr lang="es-ES" dirty="0">
                        <a:effectLst/>
                      </a:endParaRPr>
                    </a:p>
                  </a:txBody>
                  <a:tcPr marL="60960" marR="60960" marT="30480" marB="30480" anchor="ctr">
                    <a:lnL w="9525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5812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 smtClean="0">
                          <a:solidFill>
                            <a:schemeClr val="dk2"/>
                          </a:solidFill>
                          <a:latin typeface="+mn-lt"/>
                          <a:ea typeface="Open Sans Light"/>
                          <a:cs typeface="Open Sans Light"/>
                          <a:sym typeface="Open Sans Light"/>
                        </a:rPr>
                        <a:t>#4</a:t>
                      </a:r>
                      <a:endParaRPr lang="es-ES" sz="1600" dirty="0">
                        <a:solidFill>
                          <a:schemeClr val="dk2"/>
                        </a:solidFill>
                        <a:latin typeface="+mn-lt"/>
                        <a:ea typeface="Open Sans Light"/>
                        <a:cs typeface="Open Sans Light"/>
                        <a:sym typeface="Open Sans Light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 smtClean="0">
                          <a:solidFill>
                            <a:schemeClr val="dk1"/>
                          </a:solidFill>
                          <a:latin typeface="+mn-lt"/>
                          <a:ea typeface="Open Sans"/>
                          <a:cs typeface="Open Sans"/>
                          <a:sym typeface="Open Sans"/>
                        </a:rPr>
                        <a:t>RESNET 18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 err="1" smtClean="0">
                          <a:solidFill>
                            <a:schemeClr val="dk1"/>
                          </a:solidFill>
                          <a:latin typeface="+mn-lt"/>
                          <a:ea typeface="Open Sans"/>
                          <a:cs typeface="Open Sans"/>
                          <a:sym typeface="Open Sans"/>
                        </a:rPr>
                        <a:t>From</a:t>
                      </a:r>
                      <a:r>
                        <a:rPr lang="es-ES" sz="1600" b="1" dirty="0" smtClean="0">
                          <a:solidFill>
                            <a:schemeClr val="dk1"/>
                          </a:solidFill>
                          <a:latin typeface="+mn-lt"/>
                          <a:ea typeface="Open Sans"/>
                          <a:cs typeface="Open Sans"/>
                          <a:sym typeface="Open Sans"/>
                        </a:rPr>
                        <a:t> </a:t>
                      </a:r>
                      <a:r>
                        <a:rPr lang="es-ES" sz="1600" b="1" dirty="0" err="1" smtClean="0">
                          <a:solidFill>
                            <a:schemeClr val="dk1"/>
                          </a:solidFill>
                          <a:latin typeface="+mn-lt"/>
                          <a:ea typeface="Open Sans"/>
                          <a:cs typeface="Open Sans"/>
                          <a:sym typeface="Open Sans"/>
                        </a:rPr>
                        <a:t>Scratch</a:t>
                      </a:r>
                      <a:endParaRPr sz="1600" b="1" dirty="0">
                        <a:solidFill>
                          <a:schemeClr val="dk1"/>
                        </a:solidFill>
                        <a:latin typeface="+mn-lt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68575" marB="68575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 smtClean="0">
                          <a:solidFill>
                            <a:schemeClr val="dk1"/>
                          </a:solidFill>
                          <a:latin typeface="+mn-lt"/>
                          <a:ea typeface="Open Sans"/>
                          <a:cs typeface="Open Sans"/>
                          <a:sym typeface="Open Sans"/>
                        </a:rPr>
                        <a:t>5</a:t>
                      </a:r>
                      <a:endParaRPr sz="1600" b="1" dirty="0">
                        <a:solidFill>
                          <a:schemeClr val="dk1"/>
                        </a:solidFill>
                        <a:latin typeface="+mn-lt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68575" marB="68575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600" b="1" kern="1200" dirty="0" smtClean="0">
                          <a:solidFill>
                            <a:schemeClr val="dk1"/>
                          </a:solidFill>
                          <a:latin typeface="+mn-lt"/>
                          <a:ea typeface="Open Sans"/>
                          <a:cs typeface="Open Sans"/>
                        </a:rPr>
                        <a:t>11,184,207</a:t>
                      </a:r>
                    </a:p>
                  </a:txBody>
                  <a:tcPr marL="91425" marR="91425" marT="68575" marB="68575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0.015</a:t>
                      </a:r>
                      <a:endParaRPr sz="1600" b="1" dirty="0">
                        <a:solidFill>
                          <a:schemeClr val="dk1"/>
                        </a:solidFill>
                        <a:latin typeface="+mn-lt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68575" marB="68575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 smtClean="0">
                          <a:effectLst/>
                        </a:rPr>
                        <a:t>0.998</a:t>
                      </a:r>
                      <a:endParaRPr lang="es-ES" dirty="0">
                        <a:effectLst/>
                      </a:endParaRPr>
                    </a:p>
                  </a:txBody>
                  <a:tcPr marL="60960" marR="60960" marT="30480" marB="30480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 smtClean="0">
                          <a:effectLst/>
                        </a:rPr>
                        <a:t>0.998</a:t>
                      </a:r>
                      <a:endParaRPr lang="es-ES" dirty="0">
                        <a:effectLst/>
                      </a:endParaRPr>
                    </a:p>
                  </a:txBody>
                  <a:tcPr marL="60960" marR="60960" marT="30480" marB="30480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4395099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CuadroTexto 24"/>
          <p:cNvSpPr txBox="1"/>
          <p:nvPr/>
        </p:nvSpPr>
        <p:spPr>
          <a:xfrm>
            <a:off x="710032" y="889928"/>
            <a:ext cx="499534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tabLst>
                <a:tab pos="5649913" algn="l"/>
              </a:tabLst>
            </a:pPr>
            <a:r>
              <a:rPr lang="es-AR" sz="3600" b="1" dirty="0" smtClean="0">
                <a:latin typeface="Corbel" panose="020B0503020204020204" pitchFamily="34" charset="0"/>
              </a:rPr>
              <a:t>Evaluación sobre el Test </a:t>
            </a:r>
            <a:endParaRPr lang="es-AR" sz="3600" b="1" dirty="0">
              <a:latin typeface="Corbel" panose="020B0503020204020204" pitchFamily="34" charset="0"/>
            </a:endParaRPr>
          </a:p>
        </p:txBody>
      </p:sp>
      <p:sp>
        <p:nvSpPr>
          <p:cNvPr id="26" name="CuadroTexto 25"/>
          <p:cNvSpPr txBox="1"/>
          <p:nvPr/>
        </p:nvSpPr>
        <p:spPr>
          <a:xfrm>
            <a:off x="710032" y="492362"/>
            <a:ext cx="29835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AR" sz="2000" b="1" dirty="0" smtClean="0">
                <a:solidFill>
                  <a:srgbClr val="9D83BF"/>
                </a:solidFill>
                <a:latin typeface="Corbel" panose="020B0503020204020204" pitchFamily="34" charset="0"/>
              </a:rPr>
              <a:t>Comparación de modelos</a:t>
            </a:r>
            <a:endParaRPr lang="es-AR" sz="2000" b="1" dirty="0">
              <a:solidFill>
                <a:srgbClr val="9D83BF"/>
              </a:solidFill>
              <a:latin typeface="Corbel" panose="020B0503020204020204" pitchFamily="34" charset="0"/>
            </a:endParaRPr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 rotWithShape="1">
          <a:blip r:embed="rId3"/>
          <a:srcRect l="4766" t="17342" r="26109" b="14214"/>
          <a:stretch/>
        </p:blipFill>
        <p:spPr>
          <a:xfrm>
            <a:off x="1556284" y="1730624"/>
            <a:ext cx="8749924" cy="4873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75775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uadroTexto 12"/>
          <p:cNvSpPr txBox="1"/>
          <p:nvPr/>
        </p:nvSpPr>
        <p:spPr>
          <a:xfrm>
            <a:off x="710032" y="1821364"/>
            <a:ext cx="49621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AR" sz="2400" b="1" dirty="0" err="1" smtClean="0">
                <a:solidFill>
                  <a:srgbClr val="2C5EA6"/>
                </a:solidFill>
                <a:latin typeface="Corbel" panose="020B0503020204020204" pitchFamily="34" charset="0"/>
              </a:rPr>
              <a:t>Confusion</a:t>
            </a:r>
            <a:r>
              <a:rPr lang="es-AR" sz="2400" b="1" dirty="0" smtClean="0">
                <a:solidFill>
                  <a:srgbClr val="2C5EA6"/>
                </a:solidFill>
                <a:latin typeface="Corbel" panose="020B0503020204020204" pitchFamily="34" charset="0"/>
              </a:rPr>
              <a:t> </a:t>
            </a:r>
            <a:r>
              <a:rPr lang="es-AR" sz="2400" b="1" dirty="0" err="1" smtClean="0">
                <a:solidFill>
                  <a:srgbClr val="2C5EA6"/>
                </a:solidFill>
                <a:latin typeface="Corbel" panose="020B0503020204020204" pitchFamily="34" charset="0"/>
              </a:rPr>
              <a:t>matrix</a:t>
            </a:r>
            <a:r>
              <a:rPr lang="es-AR" sz="2400" b="1" dirty="0" smtClean="0">
                <a:solidFill>
                  <a:srgbClr val="2C5EA6"/>
                </a:solidFill>
                <a:latin typeface="Corbel" panose="020B0503020204020204" pitchFamily="34" charset="0"/>
              </a:rPr>
              <a:t>: PLANT SPECIES</a:t>
            </a:r>
            <a:endParaRPr lang="es-AR" sz="2400" b="1" dirty="0">
              <a:solidFill>
                <a:srgbClr val="2C5EA6"/>
              </a:solidFill>
              <a:latin typeface="Corbel" panose="020B0503020204020204" pitchFamily="34" charset="0"/>
            </a:endParaRPr>
          </a:p>
        </p:txBody>
      </p:sp>
      <p:sp>
        <p:nvSpPr>
          <p:cNvPr id="6" name="CuadroTexto 5"/>
          <p:cNvSpPr txBox="1"/>
          <p:nvPr/>
        </p:nvSpPr>
        <p:spPr>
          <a:xfrm>
            <a:off x="710032" y="889928"/>
            <a:ext cx="93936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5649913" algn="l"/>
              </a:tabLst>
            </a:pPr>
            <a:r>
              <a:rPr lang="es-AR" sz="3600" b="1" dirty="0" smtClean="0">
                <a:latin typeface="Corbel" panose="020B0503020204020204" pitchFamily="34" charset="0"/>
              </a:rPr>
              <a:t>MODELO #4 RESNET18 </a:t>
            </a:r>
            <a:r>
              <a:rPr lang="es-AR" sz="3600" b="1" dirty="0" err="1" smtClean="0">
                <a:latin typeface="Corbel" panose="020B0503020204020204" pitchFamily="34" charset="0"/>
              </a:rPr>
              <a:t>from</a:t>
            </a:r>
            <a:r>
              <a:rPr lang="es-AR" sz="3600" b="1" dirty="0" smtClean="0">
                <a:latin typeface="Corbel" panose="020B0503020204020204" pitchFamily="34" charset="0"/>
              </a:rPr>
              <a:t> SCRATCH</a:t>
            </a:r>
            <a:endParaRPr lang="es-AR" sz="3600" b="1" dirty="0">
              <a:latin typeface="Corbel" panose="020B0503020204020204" pitchFamily="34" charset="0"/>
            </a:endParaRPr>
          </a:p>
        </p:txBody>
      </p:sp>
      <p:sp>
        <p:nvSpPr>
          <p:cNvPr id="8" name="CuadroTexto 7"/>
          <p:cNvSpPr txBox="1"/>
          <p:nvPr/>
        </p:nvSpPr>
        <p:spPr>
          <a:xfrm>
            <a:off x="710032" y="492362"/>
            <a:ext cx="51716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AR" sz="2000" b="1" dirty="0" smtClean="0">
                <a:solidFill>
                  <a:srgbClr val="9D83BF"/>
                </a:solidFill>
                <a:latin typeface="Corbel" panose="020B0503020204020204" pitchFamily="34" charset="0"/>
              </a:rPr>
              <a:t>Evaluación de performance del mejor modelo</a:t>
            </a:r>
            <a:endParaRPr lang="es-AR" sz="2000" b="1" dirty="0">
              <a:solidFill>
                <a:srgbClr val="9D83BF"/>
              </a:solidFill>
              <a:latin typeface="Corbel" panose="020B0503020204020204" pitchFamily="34" charset="0"/>
            </a:endParaRPr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 rotWithShape="1">
          <a:blip r:embed="rId3"/>
          <a:srcRect b="43949"/>
          <a:stretch/>
        </p:blipFill>
        <p:spPr>
          <a:xfrm>
            <a:off x="1554752" y="2441385"/>
            <a:ext cx="8234816" cy="4132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623638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uadroTexto 12"/>
          <p:cNvSpPr txBox="1"/>
          <p:nvPr/>
        </p:nvSpPr>
        <p:spPr>
          <a:xfrm>
            <a:off x="710032" y="1821364"/>
            <a:ext cx="46654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AR" sz="2400" b="1" dirty="0" err="1" smtClean="0">
                <a:solidFill>
                  <a:srgbClr val="2C5EA6"/>
                </a:solidFill>
                <a:latin typeface="Corbel" panose="020B0503020204020204" pitchFamily="34" charset="0"/>
              </a:rPr>
              <a:t>Confusion</a:t>
            </a:r>
            <a:r>
              <a:rPr lang="es-AR" sz="2400" b="1" dirty="0" smtClean="0">
                <a:solidFill>
                  <a:srgbClr val="2C5EA6"/>
                </a:solidFill>
                <a:latin typeface="Corbel" panose="020B0503020204020204" pitchFamily="34" charset="0"/>
              </a:rPr>
              <a:t> </a:t>
            </a:r>
            <a:r>
              <a:rPr lang="es-AR" sz="2400" b="1" dirty="0" err="1" smtClean="0">
                <a:solidFill>
                  <a:srgbClr val="2C5EA6"/>
                </a:solidFill>
                <a:latin typeface="Corbel" panose="020B0503020204020204" pitchFamily="34" charset="0"/>
              </a:rPr>
              <a:t>matrix</a:t>
            </a:r>
            <a:r>
              <a:rPr lang="es-AR" sz="2400" b="1" dirty="0" smtClean="0">
                <a:solidFill>
                  <a:srgbClr val="2C5EA6"/>
                </a:solidFill>
                <a:latin typeface="Corbel" panose="020B0503020204020204" pitchFamily="34" charset="0"/>
              </a:rPr>
              <a:t>: HEALTH STATE</a:t>
            </a:r>
            <a:endParaRPr lang="es-AR" sz="2400" b="1" dirty="0">
              <a:solidFill>
                <a:srgbClr val="2C5EA6"/>
              </a:solidFill>
              <a:latin typeface="Corbel" panose="020B0503020204020204" pitchFamily="34" charset="0"/>
            </a:endParaRPr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 rotWithShape="1">
          <a:blip r:embed="rId3"/>
          <a:srcRect l="4173" t="56112" r="-4173" b="-1410"/>
          <a:stretch/>
        </p:blipFill>
        <p:spPr>
          <a:xfrm>
            <a:off x="944439" y="2446214"/>
            <a:ext cx="9900153" cy="4015546"/>
          </a:xfrm>
          <a:prstGeom prst="rect">
            <a:avLst/>
          </a:prstGeom>
        </p:spPr>
      </p:pic>
      <p:sp>
        <p:nvSpPr>
          <p:cNvPr id="9" name="CuadroTexto 8"/>
          <p:cNvSpPr txBox="1"/>
          <p:nvPr/>
        </p:nvSpPr>
        <p:spPr>
          <a:xfrm>
            <a:off x="710032" y="889928"/>
            <a:ext cx="93936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5649913" algn="l"/>
              </a:tabLst>
            </a:pPr>
            <a:r>
              <a:rPr lang="es-AR" sz="3600" b="1" dirty="0" smtClean="0">
                <a:latin typeface="Corbel" panose="020B0503020204020204" pitchFamily="34" charset="0"/>
              </a:rPr>
              <a:t>MODELO #4 RESNET18 </a:t>
            </a:r>
            <a:r>
              <a:rPr lang="es-AR" sz="3600" b="1" dirty="0" err="1" smtClean="0">
                <a:latin typeface="Corbel" panose="020B0503020204020204" pitchFamily="34" charset="0"/>
              </a:rPr>
              <a:t>from</a:t>
            </a:r>
            <a:r>
              <a:rPr lang="es-AR" sz="3600" b="1" dirty="0" smtClean="0">
                <a:latin typeface="Corbel" panose="020B0503020204020204" pitchFamily="34" charset="0"/>
              </a:rPr>
              <a:t> SCRATCH</a:t>
            </a:r>
            <a:endParaRPr lang="es-AR" sz="3600" b="1" dirty="0">
              <a:latin typeface="Corbel" panose="020B0503020204020204" pitchFamily="34" charset="0"/>
            </a:endParaRPr>
          </a:p>
        </p:txBody>
      </p:sp>
      <p:sp>
        <p:nvSpPr>
          <p:cNvPr id="10" name="CuadroTexto 9"/>
          <p:cNvSpPr txBox="1"/>
          <p:nvPr/>
        </p:nvSpPr>
        <p:spPr>
          <a:xfrm>
            <a:off x="710032" y="492362"/>
            <a:ext cx="51716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AR" sz="2000" b="1" dirty="0" smtClean="0">
                <a:solidFill>
                  <a:srgbClr val="9D83BF"/>
                </a:solidFill>
                <a:latin typeface="Corbel" panose="020B0503020204020204" pitchFamily="34" charset="0"/>
              </a:rPr>
              <a:t>Evaluación de performance del mejor modelo</a:t>
            </a:r>
            <a:endParaRPr lang="es-AR" sz="2000" b="1" dirty="0">
              <a:solidFill>
                <a:srgbClr val="9D83BF"/>
              </a:solidFill>
              <a:latin typeface="Corbel" panose="020B05030202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24104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CuadroTexto 24"/>
          <p:cNvSpPr txBox="1"/>
          <p:nvPr/>
        </p:nvSpPr>
        <p:spPr>
          <a:xfrm>
            <a:off x="710032" y="889928"/>
            <a:ext cx="54489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tabLst>
                <a:tab pos="5649913" algn="l"/>
              </a:tabLst>
            </a:pPr>
            <a:r>
              <a:rPr lang="es-AR" sz="3600" b="1" dirty="0" smtClean="0">
                <a:latin typeface="Corbel" panose="020B0503020204020204" pitchFamily="34" charset="0"/>
              </a:rPr>
              <a:t>CONCLUSIONES FINALES</a:t>
            </a:r>
            <a:endParaRPr lang="es-AR" sz="3600" b="1" dirty="0">
              <a:latin typeface="Corbel" panose="020B0503020204020204" pitchFamily="34" charset="0"/>
            </a:endParaRPr>
          </a:p>
        </p:txBody>
      </p:sp>
      <p:sp>
        <p:nvSpPr>
          <p:cNvPr id="5" name="CuadroTexto 4"/>
          <p:cNvSpPr txBox="1"/>
          <p:nvPr/>
        </p:nvSpPr>
        <p:spPr>
          <a:xfrm>
            <a:off x="840191" y="1876944"/>
            <a:ext cx="10938368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ES" sz="20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El </a:t>
            </a:r>
            <a:r>
              <a:rPr lang="es-ES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modelo </a:t>
            </a:r>
            <a:r>
              <a:rPr lang="es-ES" sz="20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baseline</a:t>
            </a:r>
            <a:r>
              <a:rPr lang="es-ES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 con y sin Data </a:t>
            </a:r>
            <a:r>
              <a:rPr lang="es-ES" sz="20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Augmentation</a:t>
            </a:r>
            <a:r>
              <a:rPr lang="es-ES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 presenta una </a:t>
            </a:r>
            <a:r>
              <a:rPr lang="es-ES" sz="20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perfomance</a:t>
            </a:r>
            <a:r>
              <a:rPr lang="es-ES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 similar, </a:t>
            </a:r>
            <a:r>
              <a:rPr lang="es-ES" sz="20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notándose </a:t>
            </a:r>
            <a:r>
              <a:rPr lang="es-ES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una leve mejora en el modelo con Data </a:t>
            </a:r>
            <a:r>
              <a:rPr lang="es-ES" sz="20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Augmentation</a:t>
            </a:r>
            <a:r>
              <a:rPr lang="es-ES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 para la clasificación de especie de planta.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s-ES" sz="2000" dirty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ES" sz="20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Se requieren </a:t>
            </a:r>
            <a:r>
              <a:rPr lang="es-ES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más </a:t>
            </a:r>
            <a:r>
              <a:rPr lang="es-ES" sz="20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epochs</a:t>
            </a:r>
            <a:r>
              <a:rPr lang="es-ES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 para entrenar los modelos </a:t>
            </a:r>
            <a:r>
              <a:rPr lang="es-ES" sz="20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baseline</a:t>
            </a:r>
            <a:r>
              <a:rPr lang="es-ES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 a su límite de </a:t>
            </a:r>
            <a:r>
              <a:rPr lang="es-ES" sz="20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performance, principalmente el modelo con DA.</a:t>
            </a:r>
            <a:endParaRPr lang="es-ES" sz="2000" dirty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s-ES" sz="2000" dirty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ES" sz="20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Ambos </a:t>
            </a:r>
            <a:r>
              <a:rPr lang="es-ES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modelos ResNet18 (pre-</a:t>
            </a:r>
            <a:r>
              <a:rPr lang="es-ES" sz="20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trained</a:t>
            </a:r>
            <a:r>
              <a:rPr lang="es-ES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 &amp; </a:t>
            </a:r>
            <a:r>
              <a:rPr lang="es-ES" sz="20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fully-trained</a:t>
            </a:r>
            <a:r>
              <a:rPr lang="es-ES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) presentaron una métrica f1-score muy superior a las redes simples, con menor </a:t>
            </a:r>
            <a:r>
              <a:rPr lang="es-ES" sz="20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epochs</a:t>
            </a:r>
            <a:r>
              <a:rPr lang="es-ES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 de entrenamiento y menor tiempo usando </a:t>
            </a:r>
            <a:r>
              <a:rPr lang="es-ES" sz="20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GPUs</a:t>
            </a:r>
            <a:r>
              <a:rPr lang="es-ES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 A100 de COLAB.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s-ES" sz="2000" dirty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ES" sz="20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El </a:t>
            </a:r>
            <a:r>
              <a:rPr lang="es-ES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Corbel" panose="020B0503020204020204" pitchFamily="34" charset="0"/>
              </a:rPr>
              <a:t>mejor modelo en términos de la métrica aplicada resulto ResNet18 con entrenamiento completo.</a:t>
            </a:r>
            <a:endParaRPr lang="es-ES" sz="1600" dirty="0" smtClean="0">
              <a:solidFill>
                <a:schemeClr val="tx1">
                  <a:lumMod val="65000"/>
                  <a:lumOff val="35000"/>
                </a:schemeClr>
              </a:solidFill>
              <a:latin typeface="Corbel" panose="020B05030202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56716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adroTexto 2">
            <a:extLst>
              <a:ext uri="{FF2B5EF4-FFF2-40B4-BE49-F238E27FC236}">
                <a16:creationId xmlns="" xmlns:a16="http://schemas.microsoft.com/office/drawing/2014/main" id="{E1043D8C-BFD1-4EEC-A4DB-44C77E193336}"/>
              </a:ext>
            </a:extLst>
          </p:cNvPr>
          <p:cNvSpPr txBox="1"/>
          <p:nvPr/>
        </p:nvSpPr>
        <p:spPr>
          <a:xfrm>
            <a:off x="1531497" y="2383020"/>
            <a:ext cx="9020362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tabLst>
                <a:tab pos="5649913" algn="l"/>
              </a:tabLst>
            </a:pPr>
            <a:r>
              <a:rPr lang="es-AR" sz="5400" b="1" dirty="0" smtClean="0">
                <a:solidFill>
                  <a:schemeClr val="bg1"/>
                </a:solidFill>
                <a:latin typeface="Corbel" panose="020B0503020204020204" pitchFamily="34" charset="0"/>
              </a:rPr>
              <a:t>Gracias por la atención</a:t>
            </a:r>
          </a:p>
          <a:p>
            <a:pPr algn="ctr">
              <a:tabLst>
                <a:tab pos="5649913" algn="l"/>
              </a:tabLst>
            </a:pPr>
            <a:endParaRPr lang="es-AR" sz="5400" b="1" dirty="0">
              <a:solidFill>
                <a:schemeClr val="bg1"/>
              </a:solidFill>
              <a:latin typeface="Corbel" panose="020B0503020204020204" pitchFamily="34" charset="0"/>
            </a:endParaRPr>
          </a:p>
          <a:p>
            <a:pPr algn="ctr">
              <a:tabLst>
                <a:tab pos="5649913" algn="l"/>
              </a:tabLst>
            </a:pPr>
            <a:r>
              <a:rPr lang="es-AR" sz="5400" b="1" dirty="0" smtClean="0">
                <a:solidFill>
                  <a:schemeClr val="bg1"/>
                </a:solidFill>
                <a:latin typeface="Corbel" panose="020B0503020204020204" pitchFamily="34" charset="0"/>
              </a:rPr>
              <a:t>Preguntas?</a:t>
            </a:r>
            <a:endParaRPr lang="es-AR" sz="5400" b="1" dirty="0">
              <a:solidFill>
                <a:schemeClr val="bg1"/>
              </a:solidFill>
              <a:latin typeface="Corbel" panose="020B05030202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513557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NaSa 2024">
      <a:dk1>
        <a:sysClr val="windowText" lastClr="000000"/>
      </a:dk1>
      <a:lt1>
        <a:sysClr val="window" lastClr="FFFFFF"/>
      </a:lt1>
      <a:dk2>
        <a:srgbClr val="565656"/>
      </a:dk2>
      <a:lt2>
        <a:srgbClr val="E7E6E6"/>
      </a:lt2>
      <a:accent1>
        <a:srgbClr val="9D83BF"/>
      </a:accent1>
      <a:accent2>
        <a:srgbClr val="FA5716"/>
      </a:accent2>
      <a:accent3>
        <a:srgbClr val="D8D8D8"/>
      </a:accent3>
      <a:accent4>
        <a:srgbClr val="9D83BF"/>
      </a:accent4>
      <a:accent5>
        <a:srgbClr val="9D83BF"/>
      </a:accent5>
      <a:accent6>
        <a:srgbClr val="FA5716"/>
      </a:accent6>
      <a:hlink>
        <a:srgbClr val="0563C1"/>
      </a:hlink>
      <a:folHlink>
        <a:srgbClr val="C490AA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DDFCC35C1F86824B8A8ED7BAF17FDF83" ma:contentTypeVersion="18" ma:contentTypeDescription="Crear nuevo documento." ma:contentTypeScope="" ma:versionID="7ab2cdd2cd55aa024bfb4493b654724f">
  <xsd:schema xmlns:xsd="http://www.w3.org/2001/XMLSchema" xmlns:xs="http://www.w3.org/2001/XMLSchema" xmlns:p="http://schemas.microsoft.com/office/2006/metadata/properties" xmlns:ns2="8aa41bb2-ab67-4bab-bcaa-0501be54dfef" xmlns:ns3="886df372-3d05-48de-b7d6-80316468fce3" targetNamespace="http://schemas.microsoft.com/office/2006/metadata/properties" ma:root="true" ma:fieldsID="b1a4fc9428fb356cf7bc79c3e582e466" ns2:_="" ns3:_="">
    <xsd:import namespace="8aa41bb2-ab67-4bab-bcaa-0501be54dfef"/>
    <xsd:import namespace="886df372-3d05-48de-b7d6-80316468fce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2:MediaLengthInSeconds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aa41bb2-ab67-4bab-bcaa-0501be54dfe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LengthInSeconds" ma:index="16" nillable="true" ma:displayName="Length (seconds)" ma:internalName="MediaLengthInSeconds" ma:readOnly="true">
      <xsd:simpleType>
        <xsd:restriction base="dms:Unknown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22" nillable="true" ma:taxonomy="true" ma:internalName="lcf76f155ced4ddcb4097134ff3c332f" ma:taxonomyFieldName="MediaServiceImageTags" ma:displayName="Etiquetas de imagen" ma:readOnly="false" ma:fieldId="{5cf76f15-5ced-4ddc-b409-7134ff3c332f}" ma:taxonomyMulti="true" ma:sspId="26aabf31-75d2-4c8e-a6a0-e5ccd7d54e7d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86df372-3d05-48de-b7d6-80316468fce3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fe917ccc-740c-451f-bda1-7450fbd88e3e}" ma:internalName="TaxCatchAll" ma:showField="CatchAllData" ma:web="886df372-3d05-48de-b7d6-80316468fce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aa41bb2-ab67-4bab-bcaa-0501be54dfef">
      <Terms xmlns="http://schemas.microsoft.com/office/infopath/2007/PartnerControls"/>
    </lcf76f155ced4ddcb4097134ff3c332f>
    <TaxCatchAll xmlns="886df372-3d05-48de-b7d6-80316468fce3" xsi:nil="true"/>
  </documentManagement>
</p:properties>
</file>

<file path=customXml/itemProps1.xml><?xml version="1.0" encoding="utf-8"?>
<ds:datastoreItem xmlns:ds="http://schemas.openxmlformats.org/officeDocument/2006/customXml" ds:itemID="{B0689C3C-CFD5-47A1-85AE-882FF6509F4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D37AA55-36EC-43E3-BBB9-2A3C136DC27F}">
  <ds:schemaRefs>
    <ds:schemaRef ds:uri="886df372-3d05-48de-b7d6-80316468fce3"/>
    <ds:schemaRef ds:uri="8aa41bb2-ab67-4bab-bcaa-0501be54dfe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1B00BA05-6A3F-45C5-B68A-8B41A159FED3}">
  <ds:schemaRefs>
    <ds:schemaRef ds:uri="http://purl.org/dc/elements/1.1/"/>
    <ds:schemaRef ds:uri="http://www.w3.org/XML/1998/namespace"/>
    <ds:schemaRef ds:uri="http://schemas.microsoft.com/office/infopath/2007/PartnerControls"/>
    <ds:schemaRef ds:uri="http://purl.org/dc/terms/"/>
    <ds:schemaRef ds:uri="http://purl.org/dc/dcmitype/"/>
    <ds:schemaRef ds:uri="http://schemas.microsoft.com/office/2006/documentManagement/types"/>
    <ds:schemaRef ds:uri="8aa41bb2-ab67-4bab-bcaa-0501be54dfef"/>
    <ds:schemaRef ds:uri="http://schemas.openxmlformats.org/package/2006/metadata/core-properties"/>
    <ds:schemaRef ds:uri="886df372-3d05-48de-b7d6-80316468fce3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1300</TotalTime>
  <Words>847</Words>
  <Application>Microsoft Office PowerPoint</Application>
  <PresentationFormat>Panorámica</PresentationFormat>
  <Paragraphs>246</Paragraphs>
  <Slides>30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30</vt:i4>
      </vt:variant>
    </vt:vector>
  </HeadingPairs>
  <TitlesOfParts>
    <vt:vector size="38" baseType="lpstr">
      <vt:lpstr>ADLaM Display</vt:lpstr>
      <vt:lpstr>Arial</vt:lpstr>
      <vt:lpstr>Calibri</vt:lpstr>
      <vt:lpstr>Calibri Light</vt:lpstr>
      <vt:lpstr>Corbel</vt:lpstr>
      <vt:lpstr>Open Sans</vt:lpstr>
      <vt:lpstr>Open Sans Light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Doyle Nicolas</dc:creator>
  <cp:lastModifiedBy>Cuenta Microsoft</cp:lastModifiedBy>
  <cp:revision>45</cp:revision>
  <dcterms:created xsi:type="dcterms:W3CDTF">2020-08-27T15:39:48Z</dcterms:created>
  <dcterms:modified xsi:type="dcterms:W3CDTF">2025-06-16T23:22:02Z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0x010100DDFCC35C1F86824B8A8ED7BAF17FDF83</vt:lpwstr>
  </property>
  <property fmtid="{D5CDD505-2E9C-101B-9397-08002B2CF9AE}" pid="3" name="MediaServiceImageTags">
    <vt:lpwstr/>
  </property>
</Properties>
</file>